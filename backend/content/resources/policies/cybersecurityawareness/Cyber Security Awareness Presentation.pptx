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diagrams/data1.xml" ContentType="application/vnd.openxmlformats-officedocument.drawingml.diagramData+xml"/>
  <Override PartName="/ppt/presentation.xml" ContentType="application/vnd.openxmlformats-officedocument.presentationml.presentation.main+xml"/>
  <Override PartName="/ppt/slides/slide24.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23.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diagrams/drawing1.xml" ContentType="application/vnd.ms-office.drawingml.diagramDrawing+xml"/>
  <Override PartName="/ppt/diagrams/quickStyle1.xml" ContentType="application/vnd.openxmlformats-officedocument.drawingml.diagramStyle+xml"/>
  <Override PartName="/ppt/diagrams/colors1.xml" ContentType="application/vnd.openxmlformats-officedocument.drawingml.diagramColors+xml"/>
  <Override PartName="/ppt/diagrams/layout1.xml" ContentType="application/vnd.openxmlformats-officedocument.drawingml.diagram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83" r:id="rId2"/>
    <p:sldId id="256" r:id="rId3"/>
    <p:sldId id="259" r:id="rId4"/>
    <p:sldId id="286" r:id="rId5"/>
    <p:sldId id="287" r:id="rId6"/>
    <p:sldId id="269" r:id="rId7"/>
    <p:sldId id="270" r:id="rId8"/>
    <p:sldId id="260" r:id="rId9"/>
    <p:sldId id="257" r:id="rId10"/>
    <p:sldId id="261" r:id="rId11"/>
    <p:sldId id="262" r:id="rId12"/>
    <p:sldId id="289" r:id="rId13"/>
    <p:sldId id="263" r:id="rId14"/>
    <p:sldId id="290" r:id="rId15"/>
    <p:sldId id="264" r:id="rId16"/>
    <p:sldId id="265" r:id="rId17"/>
    <p:sldId id="266" r:id="rId18"/>
    <p:sldId id="302" r:id="rId19"/>
    <p:sldId id="267" r:id="rId20"/>
    <p:sldId id="268" r:id="rId21"/>
    <p:sldId id="277" r:id="rId22"/>
    <p:sldId id="278" r:id="rId23"/>
    <p:sldId id="271" r:id="rId24"/>
    <p:sldId id="272" r:id="rId25"/>
    <p:sldId id="292" r:id="rId26"/>
    <p:sldId id="274" r:id="rId27"/>
    <p:sldId id="293" r:id="rId28"/>
    <p:sldId id="273" r:id="rId29"/>
    <p:sldId id="295" r:id="rId30"/>
    <p:sldId id="275" r:id="rId31"/>
    <p:sldId id="297" r:id="rId32"/>
    <p:sldId id="276" r:id="rId33"/>
    <p:sldId id="279" r:id="rId34"/>
    <p:sldId id="280" r:id="rId35"/>
    <p:sldId id="281" r:id="rId36"/>
    <p:sldId id="299" r:id="rId37"/>
    <p:sldId id="282" r:id="rId38"/>
    <p:sldId id="301" r:id="rId39"/>
    <p:sldId id="304" r:id="rId40"/>
    <p:sldId id="284" r:id="rId41"/>
    <p:sldId id="28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E878FF-17B2-4206-8C7E-8479122E6738}" type="doc">
      <dgm:prSet loTypeId="urn:microsoft.com/office/officeart/2005/8/layout/cycle6" loCatId="relationship" qsTypeId="urn:microsoft.com/office/officeart/2005/8/quickstyle/simple1" qsCatId="simple" csTypeId="urn:microsoft.com/office/officeart/2005/8/colors/accent1_2" csCatId="accent1" phldr="1"/>
      <dgm:spPr/>
      <dgm:t>
        <a:bodyPr/>
        <a:lstStyle/>
        <a:p>
          <a:endParaRPr lang="en-US"/>
        </a:p>
      </dgm:t>
    </dgm:pt>
    <dgm:pt modelId="{D1560AE2-FC59-44EC-A517-6AABE5DD9AA3}">
      <dgm:prSet phldrT="[Text]" custT="1"/>
      <dgm:spPr/>
      <dgm:t>
        <a:bodyPr/>
        <a:lstStyle/>
        <a:p>
          <a:r>
            <a:rPr lang="en-US" sz="2400" dirty="0" smtClean="0"/>
            <a:t>Leak and misuse of Personal identification Information(PII)  </a:t>
          </a:r>
          <a:endParaRPr lang="en-US" sz="2400" dirty="0"/>
        </a:p>
      </dgm:t>
    </dgm:pt>
    <dgm:pt modelId="{827D2FC8-CB27-4B33-B6DE-1996D2644EA9}" type="parTrans" cxnId="{DCF3BF78-95AB-416E-B3CE-0550078B3C4F}">
      <dgm:prSet/>
      <dgm:spPr/>
      <dgm:t>
        <a:bodyPr/>
        <a:lstStyle/>
        <a:p>
          <a:endParaRPr lang="en-US"/>
        </a:p>
      </dgm:t>
    </dgm:pt>
    <dgm:pt modelId="{B5757D0E-479C-4F3B-A476-179DC9DE09AB}" type="sibTrans" cxnId="{DCF3BF78-95AB-416E-B3CE-0550078B3C4F}">
      <dgm:prSet/>
      <dgm:spPr/>
      <dgm:t>
        <a:bodyPr/>
        <a:lstStyle/>
        <a:p>
          <a:endParaRPr lang="en-US"/>
        </a:p>
      </dgm:t>
    </dgm:pt>
    <dgm:pt modelId="{C14E5954-D119-4257-9901-F31D9C3F1213}">
      <dgm:prSet phldrT="[Text]" custT="1"/>
      <dgm:spPr/>
      <dgm:t>
        <a:bodyPr/>
        <a:lstStyle/>
        <a:p>
          <a:r>
            <a:rPr lang="en-US" sz="2400" dirty="0" smtClean="0"/>
            <a:t>Malware attack</a:t>
          </a:r>
          <a:endParaRPr lang="en-US" sz="2400" dirty="0"/>
        </a:p>
      </dgm:t>
    </dgm:pt>
    <dgm:pt modelId="{F7F4B42E-CB3E-4533-9867-28E6207C7DB4}" type="parTrans" cxnId="{628F0961-F7E4-4E05-B6C7-F8EF3FBA62ED}">
      <dgm:prSet/>
      <dgm:spPr/>
      <dgm:t>
        <a:bodyPr/>
        <a:lstStyle/>
        <a:p>
          <a:endParaRPr lang="en-US"/>
        </a:p>
      </dgm:t>
    </dgm:pt>
    <dgm:pt modelId="{76BD2165-A854-4FCD-AE81-CECAD3C3E097}" type="sibTrans" cxnId="{628F0961-F7E4-4E05-B6C7-F8EF3FBA62ED}">
      <dgm:prSet/>
      <dgm:spPr/>
      <dgm:t>
        <a:bodyPr/>
        <a:lstStyle/>
        <a:p>
          <a:endParaRPr lang="en-US"/>
        </a:p>
      </dgm:t>
    </dgm:pt>
    <dgm:pt modelId="{BABCDBE0-2DDD-4C72-89CB-661650C264BA}">
      <dgm:prSet phldrT="[Text]" custT="1"/>
      <dgm:spPr/>
      <dgm:t>
        <a:bodyPr/>
        <a:lstStyle/>
        <a:p>
          <a:r>
            <a:rPr lang="en-US" sz="2400" dirty="0" smtClean="0"/>
            <a:t>Unauthorized access to devices /data</a:t>
          </a:r>
          <a:endParaRPr lang="en-US" sz="2400" dirty="0"/>
        </a:p>
      </dgm:t>
    </dgm:pt>
    <dgm:pt modelId="{2F4EC96A-1F69-4487-9A0E-1FC30D99067A}" type="parTrans" cxnId="{308392CD-692E-491F-9190-C7A770188FFB}">
      <dgm:prSet/>
      <dgm:spPr/>
      <dgm:t>
        <a:bodyPr/>
        <a:lstStyle/>
        <a:p>
          <a:endParaRPr lang="en-US"/>
        </a:p>
      </dgm:t>
    </dgm:pt>
    <dgm:pt modelId="{2552CDA6-0101-4D8B-A7D8-72F1A6A3D72B}" type="sibTrans" cxnId="{308392CD-692E-491F-9190-C7A770188FFB}">
      <dgm:prSet/>
      <dgm:spPr/>
      <dgm:t>
        <a:bodyPr/>
        <a:lstStyle/>
        <a:p>
          <a:endParaRPr lang="en-US"/>
        </a:p>
      </dgm:t>
    </dgm:pt>
    <dgm:pt modelId="{9CAC137B-6AA3-489B-A6A4-2614CDA8C3CA}">
      <dgm:prSet phldrT="[Text]" custT="1"/>
      <dgm:spPr/>
      <dgm:t>
        <a:bodyPr/>
        <a:lstStyle/>
        <a:p>
          <a:r>
            <a:rPr lang="en-US" sz="2400" dirty="0" smtClean="0"/>
            <a:t>Account hacking</a:t>
          </a:r>
          <a:endParaRPr lang="en-US" sz="2400" dirty="0"/>
        </a:p>
      </dgm:t>
    </dgm:pt>
    <dgm:pt modelId="{5A594D94-CA65-423C-8D41-90AA40F918F7}" type="parTrans" cxnId="{FCF2E21A-8511-4466-99CE-5282CC45DDFA}">
      <dgm:prSet/>
      <dgm:spPr/>
      <dgm:t>
        <a:bodyPr/>
        <a:lstStyle/>
        <a:p>
          <a:endParaRPr lang="en-US"/>
        </a:p>
      </dgm:t>
    </dgm:pt>
    <dgm:pt modelId="{F0FBFAC7-6685-4652-85A7-4FF0C5272AEC}" type="sibTrans" cxnId="{FCF2E21A-8511-4466-99CE-5282CC45DDFA}">
      <dgm:prSet/>
      <dgm:spPr/>
      <dgm:t>
        <a:bodyPr/>
        <a:lstStyle/>
        <a:p>
          <a:endParaRPr lang="en-US"/>
        </a:p>
      </dgm:t>
    </dgm:pt>
    <dgm:pt modelId="{CC5C65AF-CF86-480A-8FB5-C374E7EAAEFD}">
      <dgm:prSet phldrT="[Text]" custT="1"/>
      <dgm:spPr/>
      <dgm:t>
        <a:bodyPr/>
        <a:lstStyle/>
        <a:p>
          <a:r>
            <a:rPr lang="en-US" sz="2400" dirty="0" smtClean="0"/>
            <a:t>Financial loss</a:t>
          </a:r>
          <a:endParaRPr lang="en-US" sz="2400" dirty="0"/>
        </a:p>
      </dgm:t>
    </dgm:pt>
    <dgm:pt modelId="{DCE63F42-786B-4914-8DE7-31DB0B68DC54}" type="sibTrans" cxnId="{ABFA2900-1489-4AE5-B0DE-D7535CE5ADCB}">
      <dgm:prSet/>
      <dgm:spPr/>
      <dgm:t>
        <a:bodyPr/>
        <a:lstStyle/>
        <a:p>
          <a:endParaRPr lang="en-US"/>
        </a:p>
      </dgm:t>
    </dgm:pt>
    <dgm:pt modelId="{336D37B3-301C-4B11-A35D-67F4975787AE}" type="parTrans" cxnId="{ABFA2900-1489-4AE5-B0DE-D7535CE5ADCB}">
      <dgm:prSet/>
      <dgm:spPr/>
      <dgm:t>
        <a:bodyPr/>
        <a:lstStyle/>
        <a:p>
          <a:endParaRPr lang="en-US"/>
        </a:p>
      </dgm:t>
    </dgm:pt>
    <dgm:pt modelId="{BD5BB4FB-7960-446F-8D4C-259F8FBA8456}" type="pres">
      <dgm:prSet presAssocID="{ADE878FF-17B2-4206-8C7E-8479122E6738}" presName="cycle" presStyleCnt="0">
        <dgm:presLayoutVars>
          <dgm:dir/>
          <dgm:resizeHandles val="exact"/>
        </dgm:presLayoutVars>
      </dgm:prSet>
      <dgm:spPr/>
      <dgm:t>
        <a:bodyPr/>
        <a:lstStyle/>
        <a:p>
          <a:endParaRPr lang="en-US"/>
        </a:p>
      </dgm:t>
    </dgm:pt>
    <dgm:pt modelId="{060F1EAC-5C99-4E3D-9163-00F1F76850B2}" type="pres">
      <dgm:prSet presAssocID="{D1560AE2-FC59-44EC-A517-6AABE5DD9AA3}" presName="node" presStyleLbl="node1" presStyleIdx="0" presStyleCnt="5" custScaleX="233265" custScaleY="163421">
        <dgm:presLayoutVars>
          <dgm:bulletEnabled val="1"/>
        </dgm:presLayoutVars>
      </dgm:prSet>
      <dgm:spPr/>
      <dgm:t>
        <a:bodyPr/>
        <a:lstStyle/>
        <a:p>
          <a:endParaRPr lang="en-US"/>
        </a:p>
      </dgm:t>
    </dgm:pt>
    <dgm:pt modelId="{DE3F29B8-CC50-4FC6-8822-54DF36629EA3}" type="pres">
      <dgm:prSet presAssocID="{D1560AE2-FC59-44EC-A517-6AABE5DD9AA3}" presName="spNode" presStyleCnt="0"/>
      <dgm:spPr/>
    </dgm:pt>
    <dgm:pt modelId="{7B044A9B-655D-401F-88EC-44B466D397D9}" type="pres">
      <dgm:prSet presAssocID="{B5757D0E-479C-4F3B-A476-179DC9DE09AB}" presName="sibTrans" presStyleLbl="sibTrans1D1" presStyleIdx="0" presStyleCnt="5"/>
      <dgm:spPr/>
      <dgm:t>
        <a:bodyPr/>
        <a:lstStyle/>
        <a:p>
          <a:endParaRPr lang="en-US"/>
        </a:p>
      </dgm:t>
    </dgm:pt>
    <dgm:pt modelId="{744A4DBA-E0BC-471A-A9D1-7F4486ABE427}" type="pres">
      <dgm:prSet presAssocID="{C14E5954-D119-4257-9901-F31D9C3F1213}" presName="node" presStyleLbl="node1" presStyleIdx="1" presStyleCnt="5" custScaleX="185255" custScaleY="90643">
        <dgm:presLayoutVars>
          <dgm:bulletEnabled val="1"/>
        </dgm:presLayoutVars>
      </dgm:prSet>
      <dgm:spPr/>
      <dgm:t>
        <a:bodyPr/>
        <a:lstStyle/>
        <a:p>
          <a:endParaRPr lang="en-US"/>
        </a:p>
      </dgm:t>
    </dgm:pt>
    <dgm:pt modelId="{E0E656E4-77A9-45B6-BFCC-B2A3029B616B}" type="pres">
      <dgm:prSet presAssocID="{C14E5954-D119-4257-9901-F31D9C3F1213}" presName="spNode" presStyleCnt="0"/>
      <dgm:spPr/>
    </dgm:pt>
    <dgm:pt modelId="{9D8BBC66-34A9-4EA8-84F9-AF7E902767AD}" type="pres">
      <dgm:prSet presAssocID="{76BD2165-A854-4FCD-AE81-CECAD3C3E097}" presName="sibTrans" presStyleLbl="sibTrans1D1" presStyleIdx="1" presStyleCnt="5"/>
      <dgm:spPr/>
      <dgm:t>
        <a:bodyPr/>
        <a:lstStyle/>
        <a:p>
          <a:endParaRPr lang="en-US"/>
        </a:p>
      </dgm:t>
    </dgm:pt>
    <dgm:pt modelId="{48A4CA3D-42A4-47C7-B375-CA077F709CD6}" type="pres">
      <dgm:prSet presAssocID="{BABCDBE0-2DDD-4C72-89CB-661650C264BA}" presName="node" presStyleLbl="node1" presStyleIdx="2" presStyleCnt="5" custScaleX="228312" custScaleY="155995" custRadScaleRad="128590" custRadScaleInc="-60074">
        <dgm:presLayoutVars>
          <dgm:bulletEnabled val="1"/>
        </dgm:presLayoutVars>
      </dgm:prSet>
      <dgm:spPr/>
      <dgm:t>
        <a:bodyPr/>
        <a:lstStyle/>
        <a:p>
          <a:endParaRPr lang="en-US"/>
        </a:p>
      </dgm:t>
    </dgm:pt>
    <dgm:pt modelId="{76CED9E6-7DC7-484F-BC83-7CA0C5770CE1}" type="pres">
      <dgm:prSet presAssocID="{BABCDBE0-2DDD-4C72-89CB-661650C264BA}" presName="spNode" presStyleCnt="0"/>
      <dgm:spPr/>
    </dgm:pt>
    <dgm:pt modelId="{D4BAC51D-EA53-47CE-BF29-D56685826EB7}" type="pres">
      <dgm:prSet presAssocID="{2552CDA6-0101-4D8B-A7D8-72F1A6A3D72B}" presName="sibTrans" presStyleLbl="sibTrans1D1" presStyleIdx="2" presStyleCnt="5"/>
      <dgm:spPr/>
      <dgm:t>
        <a:bodyPr/>
        <a:lstStyle/>
        <a:p>
          <a:endParaRPr lang="en-US"/>
        </a:p>
      </dgm:t>
    </dgm:pt>
    <dgm:pt modelId="{06DF51C3-2BF7-4823-AEFF-A56E953AEEB1}" type="pres">
      <dgm:prSet presAssocID="{9CAC137B-6AA3-489B-A6A4-2614CDA8C3CA}" presName="node" presStyleLbl="node1" presStyleIdx="3" presStyleCnt="5" custScaleX="143087" custScaleY="189684">
        <dgm:presLayoutVars>
          <dgm:bulletEnabled val="1"/>
        </dgm:presLayoutVars>
      </dgm:prSet>
      <dgm:spPr/>
      <dgm:t>
        <a:bodyPr/>
        <a:lstStyle/>
        <a:p>
          <a:endParaRPr lang="en-US"/>
        </a:p>
      </dgm:t>
    </dgm:pt>
    <dgm:pt modelId="{0BD201C1-335A-4E48-AB96-7F8FAFD30C31}" type="pres">
      <dgm:prSet presAssocID="{9CAC137B-6AA3-489B-A6A4-2614CDA8C3CA}" presName="spNode" presStyleCnt="0"/>
      <dgm:spPr/>
    </dgm:pt>
    <dgm:pt modelId="{9AEA1656-8D70-46B5-850F-5971D891C06B}" type="pres">
      <dgm:prSet presAssocID="{F0FBFAC7-6685-4652-85A7-4FF0C5272AEC}" presName="sibTrans" presStyleLbl="sibTrans1D1" presStyleIdx="3" presStyleCnt="5"/>
      <dgm:spPr/>
      <dgm:t>
        <a:bodyPr/>
        <a:lstStyle/>
        <a:p>
          <a:endParaRPr lang="en-US"/>
        </a:p>
      </dgm:t>
    </dgm:pt>
    <dgm:pt modelId="{FB91DAFA-85A4-4AC6-886D-AC7052ADAA46}" type="pres">
      <dgm:prSet presAssocID="{CC5C65AF-CF86-480A-8FB5-C374E7EAAEFD}" presName="node" presStyleLbl="node1" presStyleIdx="4" presStyleCnt="5" custScaleX="223368">
        <dgm:presLayoutVars>
          <dgm:bulletEnabled val="1"/>
        </dgm:presLayoutVars>
      </dgm:prSet>
      <dgm:spPr/>
      <dgm:t>
        <a:bodyPr/>
        <a:lstStyle/>
        <a:p>
          <a:endParaRPr lang="en-US"/>
        </a:p>
      </dgm:t>
    </dgm:pt>
    <dgm:pt modelId="{E203A52F-EE41-4F04-9915-2B7AE1CE287C}" type="pres">
      <dgm:prSet presAssocID="{CC5C65AF-CF86-480A-8FB5-C374E7EAAEFD}" presName="spNode" presStyleCnt="0"/>
      <dgm:spPr/>
    </dgm:pt>
    <dgm:pt modelId="{38E06F09-B0A8-4564-9E3E-44CBC8857256}" type="pres">
      <dgm:prSet presAssocID="{DCE63F42-786B-4914-8DE7-31DB0B68DC54}" presName="sibTrans" presStyleLbl="sibTrans1D1" presStyleIdx="4" presStyleCnt="5"/>
      <dgm:spPr/>
      <dgm:t>
        <a:bodyPr/>
        <a:lstStyle/>
        <a:p>
          <a:endParaRPr lang="en-US"/>
        </a:p>
      </dgm:t>
    </dgm:pt>
  </dgm:ptLst>
  <dgm:cxnLst>
    <dgm:cxn modelId="{2010FBDD-6C44-4FF5-AE95-23D791290DCE}" type="presOf" srcId="{2552CDA6-0101-4D8B-A7D8-72F1A6A3D72B}" destId="{D4BAC51D-EA53-47CE-BF29-D56685826EB7}" srcOrd="0" destOrd="0" presId="urn:microsoft.com/office/officeart/2005/8/layout/cycle6"/>
    <dgm:cxn modelId="{BDC727C3-C085-42FE-BE3E-8EB7112CAA21}" type="presOf" srcId="{C14E5954-D119-4257-9901-F31D9C3F1213}" destId="{744A4DBA-E0BC-471A-A9D1-7F4486ABE427}" srcOrd="0" destOrd="0" presId="urn:microsoft.com/office/officeart/2005/8/layout/cycle6"/>
    <dgm:cxn modelId="{78568D55-F0EC-46C9-88F4-3890EAB7B3F8}" type="presOf" srcId="{9CAC137B-6AA3-489B-A6A4-2614CDA8C3CA}" destId="{06DF51C3-2BF7-4823-AEFF-A56E953AEEB1}" srcOrd="0" destOrd="0" presId="urn:microsoft.com/office/officeart/2005/8/layout/cycle6"/>
    <dgm:cxn modelId="{9F66B648-7444-4CB4-BC42-C2B94030FC7F}" type="presOf" srcId="{CC5C65AF-CF86-480A-8FB5-C374E7EAAEFD}" destId="{FB91DAFA-85A4-4AC6-886D-AC7052ADAA46}" srcOrd="0" destOrd="0" presId="urn:microsoft.com/office/officeart/2005/8/layout/cycle6"/>
    <dgm:cxn modelId="{F1BC05CF-1ABE-4B28-A6B2-9196CC05F565}" type="presOf" srcId="{F0FBFAC7-6685-4652-85A7-4FF0C5272AEC}" destId="{9AEA1656-8D70-46B5-850F-5971D891C06B}" srcOrd="0" destOrd="0" presId="urn:microsoft.com/office/officeart/2005/8/layout/cycle6"/>
    <dgm:cxn modelId="{308392CD-692E-491F-9190-C7A770188FFB}" srcId="{ADE878FF-17B2-4206-8C7E-8479122E6738}" destId="{BABCDBE0-2DDD-4C72-89CB-661650C264BA}" srcOrd="2" destOrd="0" parTransId="{2F4EC96A-1F69-4487-9A0E-1FC30D99067A}" sibTransId="{2552CDA6-0101-4D8B-A7D8-72F1A6A3D72B}"/>
    <dgm:cxn modelId="{155576F8-B909-47A5-BBB1-5463E282CAD5}" type="presOf" srcId="{ADE878FF-17B2-4206-8C7E-8479122E6738}" destId="{BD5BB4FB-7960-446F-8D4C-259F8FBA8456}" srcOrd="0" destOrd="0" presId="urn:microsoft.com/office/officeart/2005/8/layout/cycle6"/>
    <dgm:cxn modelId="{79E954DC-962F-4E19-912F-8986DA7A8508}" type="presOf" srcId="{DCE63F42-786B-4914-8DE7-31DB0B68DC54}" destId="{38E06F09-B0A8-4564-9E3E-44CBC8857256}" srcOrd="0" destOrd="0" presId="urn:microsoft.com/office/officeart/2005/8/layout/cycle6"/>
    <dgm:cxn modelId="{5EF0A83D-B1AF-4F45-8BC7-C07DB79EA9DB}" type="presOf" srcId="{BABCDBE0-2DDD-4C72-89CB-661650C264BA}" destId="{48A4CA3D-42A4-47C7-B375-CA077F709CD6}" srcOrd="0" destOrd="0" presId="urn:microsoft.com/office/officeart/2005/8/layout/cycle6"/>
    <dgm:cxn modelId="{ABFA2900-1489-4AE5-B0DE-D7535CE5ADCB}" srcId="{ADE878FF-17B2-4206-8C7E-8479122E6738}" destId="{CC5C65AF-CF86-480A-8FB5-C374E7EAAEFD}" srcOrd="4" destOrd="0" parTransId="{336D37B3-301C-4B11-A35D-67F4975787AE}" sibTransId="{DCE63F42-786B-4914-8DE7-31DB0B68DC54}"/>
    <dgm:cxn modelId="{DCF3BF78-95AB-416E-B3CE-0550078B3C4F}" srcId="{ADE878FF-17B2-4206-8C7E-8479122E6738}" destId="{D1560AE2-FC59-44EC-A517-6AABE5DD9AA3}" srcOrd="0" destOrd="0" parTransId="{827D2FC8-CB27-4B33-B6DE-1996D2644EA9}" sibTransId="{B5757D0E-479C-4F3B-A476-179DC9DE09AB}"/>
    <dgm:cxn modelId="{F8BF6219-E770-4B8F-9FDB-E5DAB259AC1C}" type="presOf" srcId="{B5757D0E-479C-4F3B-A476-179DC9DE09AB}" destId="{7B044A9B-655D-401F-88EC-44B466D397D9}" srcOrd="0" destOrd="0" presId="urn:microsoft.com/office/officeart/2005/8/layout/cycle6"/>
    <dgm:cxn modelId="{FCF2E21A-8511-4466-99CE-5282CC45DDFA}" srcId="{ADE878FF-17B2-4206-8C7E-8479122E6738}" destId="{9CAC137B-6AA3-489B-A6A4-2614CDA8C3CA}" srcOrd="3" destOrd="0" parTransId="{5A594D94-CA65-423C-8D41-90AA40F918F7}" sibTransId="{F0FBFAC7-6685-4652-85A7-4FF0C5272AEC}"/>
    <dgm:cxn modelId="{F6F2B3C1-C47D-4DBA-96EE-0A507A99BE9C}" type="presOf" srcId="{D1560AE2-FC59-44EC-A517-6AABE5DD9AA3}" destId="{060F1EAC-5C99-4E3D-9163-00F1F76850B2}" srcOrd="0" destOrd="0" presId="urn:microsoft.com/office/officeart/2005/8/layout/cycle6"/>
    <dgm:cxn modelId="{628F0961-F7E4-4E05-B6C7-F8EF3FBA62ED}" srcId="{ADE878FF-17B2-4206-8C7E-8479122E6738}" destId="{C14E5954-D119-4257-9901-F31D9C3F1213}" srcOrd="1" destOrd="0" parTransId="{F7F4B42E-CB3E-4533-9867-28E6207C7DB4}" sibTransId="{76BD2165-A854-4FCD-AE81-CECAD3C3E097}"/>
    <dgm:cxn modelId="{74643823-7288-48B2-A12D-EFEDB363690B}" type="presOf" srcId="{76BD2165-A854-4FCD-AE81-CECAD3C3E097}" destId="{9D8BBC66-34A9-4EA8-84F9-AF7E902767AD}" srcOrd="0" destOrd="0" presId="urn:microsoft.com/office/officeart/2005/8/layout/cycle6"/>
    <dgm:cxn modelId="{FCDDE55B-B1B7-41A8-8750-5D41066214B6}" type="presParOf" srcId="{BD5BB4FB-7960-446F-8D4C-259F8FBA8456}" destId="{060F1EAC-5C99-4E3D-9163-00F1F76850B2}" srcOrd="0" destOrd="0" presId="urn:microsoft.com/office/officeart/2005/8/layout/cycle6"/>
    <dgm:cxn modelId="{2B58C798-434D-45BE-8771-83127ECD457E}" type="presParOf" srcId="{BD5BB4FB-7960-446F-8D4C-259F8FBA8456}" destId="{DE3F29B8-CC50-4FC6-8822-54DF36629EA3}" srcOrd="1" destOrd="0" presId="urn:microsoft.com/office/officeart/2005/8/layout/cycle6"/>
    <dgm:cxn modelId="{3D6D0CC9-5103-4EFE-A596-4C6A0CCB1379}" type="presParOf" srcId="{BD5BB4FB-7960-446F-8D4C-259F8FBA8456}" destId="{7B044A9B-655D-401F-88EC-44B466D397D9}" srcOrd="2" destOrd="0" presId="urn:microsoft.com/office/officeart/2005/8/layout/cycle6"/>
    <dgm:cxn modelId="{D9E39231-579E-4B87-AF5C-48D9C6087087}" type="presParOf" srcId="{BD5BB4FB-7960-446F-8D4C-259F8FBA8456}" destId="{744A4DBA-E0BC-471A-A9D1-7F4486ABE427}" srcOrd="3" destOrd="0" presId="urn:microsoft.com/office/officeart/2005/8/layout/cycle6"/>
    <dgm:cxn modelId="{757AA0BB-037D-4EC1-A7B1-A0D6E02095CA}" type="presParOf" srcId="{BD5BB4FB-7960-446F-8D4C-259F8FBA8456}" destId="{E0E656E4-77A9-45B6-BFCC-B2A3029B616B}" srcOrd="4" destOrd="0" presId="urn:microsoft.com/office/officeart/2005/8/layout/cycle6"/>
    <dgm:cxn modelId="{095E8F4D-77D6-4A39-A6FF-8A4054D4F031}" type="presParOf" srcId="{BD5BB4FB-7960-446F-8D4C-259F8FBA8456}" destId="{9D8BBC66-34A9-4EA8-84F9-AF7E902767AD}" srcOrd="5" destOrd="0" presId="urn:microsoft.com/office/officeart/2005/8/layout/cycle6"/>
    <dgm:cxn modelId="{74012DEF-3DB1-4F95-BACE-72D39F7F0C8B}" type="presParOf" srcId="{BD5BB4FB-7960-446F-8D4C-259F8FBA8456}" destId="{48A4CA3D-42A4-47C7-B375-CA077F709CD6}" srcOrd="6" destOrd="0" presId="urn:microsoft.com/office/officeart/2005/8/layout/cycle6"/>
    <dgm:cxn modelId="{728FCF59-0E95-430F-9C57-A00E3F9D81D3}" type="presParOf" srcId="{BD5BB4FB-7960-446F-8D4C-259F8FBA8456}" destId="{76CED9E6-7DC7-484F-BC83-7CA0C5770CE1}" srcOrd="7" destOrd="0" presId="urn:microsoft.com/office/officeart/2005/8/layout/cycle6"/>
    <dgm:cxn modelId="{9AFA788C-94E6-43B7-856A-5BBC4F05515F}" type="presParOf" srcId="{BD5BB4FB-7960-446F-8D4C-259F8FBA8456}" destId="{D4BAC51D-EA53-47CE-BF29-D56685826EB7}" srcOrd="8" destOrd="0" presId="urn:microsoft.com/office/officeart/2005/8/layout/cycle6"/>
    <dgm:cxn modelId="{A6579A32-FECF-4341-B37A-6BCC5E5332A0}" type="presParOf" srcId="{BD5BB4FB-7960-446F-8D4C-259F8FBA8456}" destId="{06DF51C3-2BF7-4823-AEFF-A56E953AEEB1}" srcOrd="9" destOrd="0" presId="urn:microsoft.com/office/officeart/2005/8/layout/cycle6"/>
    <dgm:cxn modelId="{2F8F604D-4DFA-4643-8871-9461223CB66B}" type="presParOf" srcId="{BD5BB4FB-7960-446F-8D4C-259F8FBA8456}" destId="{0BD201C1-335A-4E48-AB96-7F8FAFD30C31}" srcOrd="10" destOrd="0" presId="urn:microsoft.com/office/officeart/2005/8/layout/cycle6"/>
    <dgm:cxn modelId="{58C2E0C3-3869-48E1-8ECA-413751B24A63}" type="presParOf" srcId="{BD5BB4FB-7960-446F-8D4C-259F8FBA8456}" destId="{9AEA1656-8D70-46B5-850F-5971D891C06B}" srcOrd="11" destOrd="0" presId="urn:microsoft.com/office/officeart/2005/8/layout/cycle6"/>
    <dgm:cxn modelId="{00EB94F8-D8F0-401B-B99A-6649EE489A2D}" type="presParOf" srcId="{BD5BB4FB-7960-446F-8D4C-259F8FBA8456}" destId="{FB91DAFA-85A4-4AC6-886D-AC7052ADAA46}" srcOrd="12" destOrd="0" presId="urn:microsoft.com/office/officeart/2005/8/layout/cycle6"/>
    <dgm:cxn modelId="{392F1382-7211-4DB5-BEA5-CFCB2CD947E9}" type="presParOf" srcId="{BD5BB4FB-7960-446F-8D4C-259F8FBA8456}" destId="{E203A52F-EE41-4F04-9915-2B7AE1CE287C}" srcOrd="13" destOrd="0" presId="urn:microsoft.com/office/officeart/2005/8/layout/cycle6"/>
    <dgm:cxn modelId="{8B84B3D2-F36C-4E90-9215-3D4BDB1F155F}" type="presParOf" srcId="{BD5BB4FB-7960-446F-8D4C-259F8FBA8456}" destId="{38E06F09-B0A8-4564-9E3E-44CBC8857256}" srcOrd="14"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0F1EAC-5C99-4E3D-9163-00F1F76850B2}">
      <dsp:nvSpPr>
        <dsp:cNvPr id="0" name=""/>
        <dsp:cNvSpPr/>
      </dsp:nvSpPr>
      <dsp:spPr>
        <a:xfrm>
          <a:off x="3180699" y="-342058"/>
          <a:ext cx="3517862" cy="160195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Leak and misuse of Personal identification Information(PII)  </a:t>
          </a:r>
          <a:endParaRPr lang="en-US" sz="2400" kern="1200" dirty="0"/>
        </a:p>
      </dsp:txBody>
      <dsp:txXfrm>
        <a:off x="3258900" y="-263857"/>
        <a:ext cx="3361460" cy="1445553"/>
      </dsp:txXfrm>
    </dsp:sp>
    <dsp:sp modelId="{7B044A9B-655D-401F-88EC-44B466D397D9}">
      <dsp:nvSpPr>
        <dsp:cNvPr id="0" name=""/>
        <dsp:cNvSpPr/>
      </dsp:nvSpPr>
      <dsp:spPr>
        <a:xfrm>
          <a:off x="3007337" y="938216"/>
          <a:ext cx="3918257" cy="3918257"/>
        </a:xfrm>
        <a:custGeom>
          <a:avLst/>
          <a:gdLst/>
          <a:ahLst/>
          <a:cxnLst/>
          <a:rect l="0" t="0" r="0" b="0"/>
          <a:pathLst>
            <a:path>
              <a:moveTo>
                <a:pt x="3036286" y="322694"/>
              </a:moveTo>
              <a:arcTo wR="1959128" hR="1959128" stAng="18201259" swAng="317483"/>
            </a:path>
          </a:pathLst>
        </a:custGeom>
        <a:noFill/>
        <a:ln w="12700"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44A4DBA-E0BC-471A-A9D1-7F4486ABE427}">
      <dsp:nvSpPr>
        <dsp:cNvPr id="0" name=""/>
        <dsp:cNvSpPr/>
      </dsp:nvSpPr>
      <dsp:spPr>
        <a:xfrm>
          <a:off x="5405960" y="1368374"/>
          <a:ext cx="2793824" cy="8885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Malware attack</a:t>
          </a:r>
          <a:endParaRPr lang="en-US" sz="2400" kern="1200" dirty="0"/>
        </a:p>
      </dsp:txBody>
      <dsp:txXfrm>
        <a:off x="5449335" y="1411749"/>
        <a:ext cx="2707074" cy="801789"/>
      </dsp:txXfrm>
    </dsp:sp>
    <dsp:sp modelId="{9D8BBC66-34A9-4EA8-84F9-AF7E902767AD}">
      <dsp:nvSpPr>
        <dsp:cNvPr id="0" name=""/>
        <dsp:cNvSpPr/>
      </dsp:nvSpPr>
      <dsp:spPr>
        <a:xfrm>
          <a:off x="3405027" y="1523961"/>
          <a:ext cx="3918257" cy="3918257"/>
        </a:xfrm>
        <a:custGeom>
          <a:avLst/>
          <a:gdLst/>
          <a:ahLst/>
          <a:cxnLst/>
          <a:rect l="0" t="0" r="0" b="0"/>
          <a:pathLst>
            <a:path>
              <a:moveTo>
                <a:pt x="3493743" y="741284"/>
              </a:moveTo>
              <a:arcTo wR="1959128" hR="1959128" stAng="19293905" swAng="1856964"/>
            </a:path>
          </a:pathLst>
        </a:custGeom>
        <a:noFill/>
        <a:ln w="12700"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8A4CA3D-42A4-47C7-B375-CA077F709CD6}">
      <dsp:nvSpPr>
        <dsp:cNvPr id="0" name=""/>
        <dsp:cNvSpPr/>
      </dsp:nvSpPr>
      <dsp:spPr>
        <a:xfrm>
          <a:off x="5159655" y="3238436"/>
          <a:ext cx="3443166" cy="1529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Unauthorized access to devices /data</a:t>
          </a:r>
          <a:endParaRPr lang="en-US" sz="2400" kern="1200" dirty="0"/>
        </a:p>
      </dsp:txBody>
      <dsp:txXfrm>
        <a:off x="5234302" y="3313083"/>
        <a:ext cx="3293872" cy="1379867"/>
      </dsp:txXfrm>
    </dsp:sp>
    <dsp:sp modelId="{D4BAC51D-EA53-47CE-BF29-D56685826EB7}">
      <dsp:nvSpPr>
        <dsp:cNvPr id="0" name=""/>
        <dsp:cNvSpPr/>
      </dsp:nvSpPr>
      <dsp:spPr>
        <a:xfrm>
          <a:off x="4104591" y="865537"/>
          <a:ext cx="3918257" cy="3918257"/>
        </a:xfrm>
        <a:custGeom>
          <a:avLst/>
          <a:gdLst/>
          <a:ahLst/>
          <a:cxnLst/>
          <a:rect l="0" t="0" r="0" b="0"/>
          <a:pathLst>
            <a:path>
              <a:moveTo>
                <a:pt x="1697583" y="3900720"/>
              </a:moveTo>
              <a:arcTo wR="1959128" hR="1959128" stAng="5860316" swAng="1780695"/>
            </a:path>
          </a:pathLst>
        </a:custGeom>
        <a:noFill/>
        <a:ln w="12700"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6DF51C3-2BF7-4823-AEFF-A56E953AEEB1}">
      <dsp:nvSpPr>
        <dsp:cNvPr id="0" name=""/>
        <dsp:cNvSpPr/>
      </dsp:nvSpPr>
      <dsp:spPr>
        <a:xfrm>
          <a:off x="2709138" y="3073315"/>
          <a:ext cx="2157890" cy="185940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Account hacking</a:t>
          </a:r>
          <a:endParaRPr lang="en-US" sz="2400" kern="1200" dirty="0"/>
        </a:p>
      </dsp:txBody>
      <dsp:txXfrm>
        <a:off x="2799907" y="3164084"/>
        <a:ext cx="1976352" cy="1677864"/>
      </dsp:txXfrm>
    </dsp:sp>
    <dsp:sp modelId="{9AEA1656-8D70-46B5-850F-5971D891C06B}">
      <dsp:nvSpPr>
        <dsp:cNvPr id="0" name=""/>
        <dsp:cNvSpPr/>
      </dsp:nvSpPr>
      <dsp:spPr>
        <a:xfrm>
          <a:off x="2980501" y="458919"/>
          <a:ext cx="3918257" cy="3918257"/>
        </a:xfrm>
        <a:custGeom>
          <a:avLst/>
          <a:gdLst/>
          <a:ahLst/>
          <a:cxnLst/>
          <a:rect l="0" t="0" r="0" b="0"/>
          <a:pathLst>
            <a:path>
              <a:moveTo>
                <a:pt x="110243" y="2607056"/>
              </a:moveTo>
              <a:arcTo wR="1959128" hR="1959128" stAng="9641242" swAng="1347491"/>
            </a:path>
          </a:pathLst>
        </a:custGeom>
        <a:noFill/>
        <a:ln w="12700"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B91DAFA-85A4-4AC6-886D-AC7052ADAA46}">
      <dsp:nvSpPr>
        <dsp:cNvPr id="0" name=""/>
        <dsp:cNvSpPr/>
      </dsp:nvSpPr>
      <dsp:spPr>
        <a:xfrm>
          <a:off x="1392085" y="1322512"/>
          <a:ext cx="3368605" cy="9802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Financial loss</a:t>
          </a:r>
          <a:endParaRPr lang="en-US" sz="2400" kern="1200" dirty="0"/>
        </a:p>
      </dsp:txBody>
      <dsp:txXfrm>
        <a:off x="1439937" y="1370364"/>
        <a:ext cx="3272901" cy="884558"/>
      </dsp:txXfrm>
    </dsp:sp>
    <dsp:sp modelId="{38E06F09-B0A8-4564-9E3E-44CBC8857256}">
      <dsp:nvSpPr>
        <dsp:cNvPr id="0" name=""/>
        <dsp:cNvSpPr/>
      </dsp:nvSpPr>
      <dsp:spPr>
        <a:xfrm>
          <a:off x="2986080" y="916459"/>
          <a:ext cx="3918257" cy="3918257"/>
        </a:xfrm>
        <a:custGeom>
          <a:avLst/>
          <a:gdLst/>
          <a:ahLst/>
          <a:cxnLst/>
          <a:rect l="0" t="0" r="0" b="0"/>
          <a:pathLst>
            <a:path>
              <a:moveTo>
                <a:pt x="765760" y="405404"/>
              </a:moveTo>
              <a:arcTo wR="1959128" hR="1959128" stAng="13948394" swAng="183212"/>
            </a:path>
          </a:pathLst>
        </a:custGeom>
        <a:noFill/>
        <a:ln w="12700"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E772ED8-9566-4A22-9E98-097946151AB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3863202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E772ED8-9566-4A22-9E98-097946151AB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2912116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E772ED8-9566-4A22-9E98-097946151AB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2929670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E772ED8-9566-4A22-9E98-097946151ABE}" type="datetimeFigureOut">
              <a:rPr lang="en-IN" smtClean="0"/>
              <a:t>05-08-2025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3999575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E772ED8-9566-4A22-9E98-097946151ABE}" type="datetimeFigureOut">
              <a:rPr lang="en-IN" smtClean="0"/>
              <a:t>05-08-2025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2508378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E772ED8-9566-4A22-9E98-097946151ABE}" type="datetimeFigureOut">
              <a:rPr lang="en-IN" smtClean="0"/>
              <a:t>05-08-2025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2315636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772ED8-9566-4A22-9E98-097946151ABE}" type="datetimeFigureOut">
              <a:rPr lang="en-IN" smtClean="0"/>
              <a:t>05-08-2025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3176660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E772ED8-9566-4A22-9E98-097946151ABE}" type="datetimeFigureOut">
              <a:rPr lang="en-IN" smtClean="0"/>
              <a:t>05-08-2025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139456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E772ED8-9566-4A22-9E98-097946151ABE}" type="datetimeFigureOut">
              <a:rPr lang="en-IN" smtClean="0"/>
              <a:t>05-08-2025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3625595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E772ED8-9566-4A22-9E98-097946151AB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964958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E772ED8-9566-4A22-9E98-097946151AB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4C3A7-3F96-4466-A6D2-C6DB249E8FCE}"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430543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E772ED8-9566-4A22-9E98-097946151AB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17329566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E772ED8-9566-4A22-9E98-097946151AB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4C3A7-3F96-4466-A6D2-C6DB249E8FCE}"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49510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E772ED8-9566-4A22-9E98-097946151AB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6863232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E772ED8-9566-4A22-9E98-097946151AB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3654633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E772ED8-9566-4A22-9E98-097946151AB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4C3A7-3F96-4466-A6D2-C6DB249E8FCE}" type="slidenum">
              <a:rPr lang="en-IN" smtClean="0"/>
              <a:t>‹#›</a:t>
            </a:fld>
            <a:endParaRPr lang="en-IN"/>
          </a:p>
        </p:txBody>
      </p:sp>
    </p:spTree>
    <p:extLst>
      <p:ext uri="{BB962C8B-B14F-4D97-AF65-F5344CB8AC3E}">
        <p14:creationId xmlns:p14="http://schemas.microsoft.com/office/powerpoint/2010/main" val="3792063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E772ED8-9566-4A22-9E98-097946151ABE}" type="datetimeFigureOut">
              <a:rPr lang="en-IN" smtClean="0"/>
              <a:t>05-08-2025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864C3A7-3F96-4466-A6D2-C6DB249E8FCE}" type="slidenum">
              <a:rPr lang="en-IN" smtClean="0"/>
              <a:t>‹#›</a:t>
            </a:fld>
            <a:endParaRPr lang="en-IN"/>
          </a:p>
        </p:txBody>
      </p:sp>
    </p:spTree>
    <p:extLst>
      <p:ext uri="{BB962C8B-B14F-4D97-AF65-F5344CB8AC3E}">
        <p14:creationId xmlns:p14="http://schemas.microsoft.com/office/powerpoint/2010/main" val="57721927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jp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cyberforensics.in/" TargetMode="External"/><Relationship Id="rId2" Type="http://schemas.openxmlformats.org/officeDocument/2006/relationships/hyperlink" Target="mailto:incident@certin.org.in" TargetMode="Externa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cybercrime.gov.in/"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cybercrime.gov.in/" TargetMode="External"/><Relationship Id="rId2" Type="http://schemas.openxmlformats.org/officeDocument/2006/relationships/hyperlink" Target="https://isea.gov.in/" TargetMode="Externa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736" y="134224"/>
            <a:ext cx="9689284" cy="1335138"/>
          </a:xfrm>
        </p:spPr>
        <p:txBody>
          <a:bodyPr>
            <a:normAutofit/>
          </a:bodyPr>
          <a:lstStyle/>
          <a:p>
            <a:r>
              <a:rPr lang="en-IN" dirty="0" smtClean="0"/>
              <a:t>Cybersecurity Awareness Workshop </a:t>
            </a:r>
            <a:br>
              <a:rPr lang="en-IN" dirty="0" smtClean="0"/>
            </a:br>
            <a:r>
              <a:rPr lang="en-IN" dirty="0" smtClean="0"/>
              <a:t>Indian Institute of Technology Kharagpur</a:t>
            </a:r>
            <a:endParaRPr lang="en-IN"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2279" y="248902"/>
            <a:ext cx="587447" cy="552891"/>
          </a:xfrm>
          <a:prstGeom prst="rect">
            <a:avLst/>
          </a:prstGeom>
        </p:spPr>
      </p:pic>
      <p:pic>
        <p:nvPicPr>
          <p:cNvPr id="4098" name="Picture 2" descr="What Is The CIA Triad In Cybersecurity"/>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60351" y="1904301"/>
            <a:ext cx="8078599" cy="4571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17058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192000" cy="6935425"/>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83890" y="237583"/>
            <a:ext cx="587447" cy="552891"/>
          </a:xfrm>
          <a:prstGeom prst="rect">
            <a:avLst/>
          </a:prstGeom>
        </p:spPr>
      </p:pic>
    </p:spTree>
    <p:extLst>
      <p:ext uri="{BB962C8B-B14F-4D97-AF65-F5344CB8AC3E}">
        <p14:creationId xmlns:p14="http://schemas.microsoft.com/office/powerpoint/2010/main" val="1041975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3074" name="Picture 2" descr="https://staysafeonline.in/gallery/posters/passwordsecurity/do-not-save-pw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3875714" y="993554"/>
            <a:ext cx="587447" cy="552891"/>
          </a:xfrm>
          <a:prstGeom prst="rect">
            <a:avLst/>
          </a:prstGeom>
        </p:spPr>
      </p:pic>
    </p:spTree>
    <p:extLst>
      <p:ext uri="{BB962C8B-B14F-4D97-AF65-F5344CB8AC3E}">
        <p14:creationId xmlns:p14="http://schemas.microsoft.com/office/powerpoint/2010/main" val="40462676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044" y="66076"/>
            <a:ext cx="8284957" cy="1212218"/>
          </a:xfrm>
        </p:spPr>
        <p:txBody>
          <a:bodyPr/>
          <a:lstStyle/>
          <a:p>
            <a:r>
              <a:rPr lang="en-IN" dirty="0"/>
              <a:t>Uses and Importance of password for Government Employees </a:t>
            </a:r>
          </a:p>
        </p:txBody>
      </p:sp>
      <p:sp>
        <p:nvSpPr>
          <p:cNvPr id="3" name="Content Placeholder 2"/>
          <p:cNvSpPr>
            <a:spLocks noGrp="1"/>
          </p:cNvSpPr>
          <p:nvPr>
            <p:ph idx="1"/>
          </p:nvPr>
        </p:nvSpPr>
        <p:spPr>
          <a:xfrm>
            <a:off x="653143" y="1474237"/>
            <a:ext cx="9666514" cy="5281126"/>
          </a:xfrm>
        </p:spPr>
        <p:txBody>
          <a:bodyPr>
            <a:normAutofit/>
          </a:bodyPr>
          <a:lstStyle/>
          <a:p>
            <a:pPr marL="0" indent="0">
              <a:buNone/>
            </a:pPr>
            <a:endParaRPr lang="en-IN" sz="2800" dirty="0"/>
          </a:p>
        </p:txBody>
      </p:sp>
      <p:sp>
        <p:nvSpPr>
          <p:cNvPr id="4" name="Flowchart: Process 3"/>
          <p:cNvSpPr/>
          <p:nvPr/>
        </p:nvSpPr>
        <p:spPr>
          <a:xfrm>
            <a:off x="1511559" y="3017901"/>
            <a:ext cx="2611324" cy="153021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Accessing Government Resources</a:t>
            </a:r>
            <a:endParaRPr lang="en-IN" sz="2400" dirty="0"/>
          </a:p>
        </p:txBody>
      </p:sp>
      <p:sp>
        <p:nvSpPr>
          <p:cNvPr id="5" name="Oval 4"/>
          <p:cNvSpPr/>
          <p:nvPr/>
        </p:nvSpPr>
        <p:spPr>
          <a:xfrm>
            <a:off x="4122883" y="2479307"/>
            <a:ext cx="2964148" cy="20480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Protecting Citizen Data</a:t>
            </a:r>
            <a:endParaRPr lang="en-IN" sz="2400" dirty="0"/>
          </a:p>
        </p:txBody>
      </p:sp>
      <p:sp>
        <p:nvSpPr>
          <p:cNvPr id="6" name="Flowchart: Process 5"/>
          <p:cNvSpPr/>
          <p:nvPr/>
        </p:nvSpPr>
        <p:spPr>
          <a:xfrm>
            <a:off x="7085230" y="2920481"/>
            <a:ext cx="2646689" cy="1558213"/>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Managing Technological Resources</a:t>
            </a:r>
            <a:endParaRPr lang="en-IN" sz="2400" dirty="0"/>
          </a:p>
        </p:txBody>
      </p:sp>
      <p:sp>
        <p:nvSpPr>
          <p:cNvPr id="7" name="Flowchart: Process 6"/>
          <p:cNvSpPr/>
          <p:nvPr/>
        </p:nvSpPr>
        <p:spPr>
          <a:xfrm>
            <a:off x="4102201" y="1361164"/>
            <a:ext cx="2923750" cy="112777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Securing Communication Channels</a:t>
            </a:r>
            <a:endParaRPr lang="en-IN" sz="2400" dirty="0"/>
          </a:p>
        </p:txBody>
      </p:sp>
      <p:sp>
        <p:nvSpPr>
          <p:cNvPr id="8" name="Flowchart: Process 7"/>
          <p:cNvSpPr/>
          <p:nvPr/>
        </p:nvSpPr>
        <p:spPr>
          <a:xfrm>
            <a:off x="4172499" y="4537011"/>
            <a:ext cx="2498889" cy="178736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Safeguarding Assessment platforms</a:t>
            </a:r>
            <a:endParaRPr lang="en-IN" sz="2400" dirty="0"/>
          </a:p>
        </p:txBody>
      </p:sp>
      <p:sp>
        <p:nvSpPr>
          <p:cNvPr id="10" name="Oval 9"/>
          <p:cNvSpPr/>
          <p:nvPr/>
        </p:nvSpPr>
        <p:spPr>
          <a:xfrm>
            <a:off x="1390262" y="1336611"/>
            <a:ext cx="2702081" cy="162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Data Confidentiality</a:t>
            </a:r>
            <a:endParaRPr lang="en-IN" sz="2400" dirty="0"/>
          </a:p>
        </p:txBody>
      </p:sp>
      <p:sp>
        <p:nvSpPr>
          <p:cNvPr id="11" name="Oval 10"/>
          <p:cNvSpPr/>
          <p:nvPr/>
        </p:nvSpPr>
        <p:spPr>
          <a:xfrm>
            <a:off x="1410453" y="4564142"/>
            <a:ext cx="2782238" cy="14789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Access Control</a:t>
            </a:r>
            <a:endParaRPr lang="en-IN" sz="2400" dirty="0"/>
          </a:p>
        </p:txBody>
      </p:sp>
      <p:sp>
        <p:nvSpPr>
          <p:cNvPr id="12" name="Oval 11"/>
          <p:cNvSpPr/>
          <p:nvPr/>
        </p:nvSpPr>
        <p:spPr>
          <a:xfrm>
            <a:off x="7056491" y="933062"/>
            <a:ext cx="2693998" cy="19681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Identify</a:t>
            </a:r>
          </a:p>
          <a:p>
            <a:pPr algn="ctr"/>
            <a:r>
              <a:rPr lang="en-IN" sz="2400" dirty="0" smtClean="0"/>
              <a:t>Authentication</a:t>
            </a:r>
            <a:endParaRPr lang="en-IN" sz="2400" dirty="0"/>
          </a:p>
        </p:txBody>
      </p:sp>
      <p:sp>
        <p:nvSpPr>
          <p:cNvPr id="15" name="Oval 14"/>
          <p:cNvSpPr/>
          <p:nvPr/>
        </p:nvSpPr>
        <p:spPr>
          <a:xfrm>
            <a:off x="6671387" y="4527375"/>
            <a:ext cx="3177689" cy="17214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Professional Accountability</a:t>
            </a:r>
            <a:endParaRPr lang="en-IN" sz="2400" dirty="0"/>
          </a:p>
        </p:txBody>
      </p:sp>
      <p:sp>
        <p:nvSpPr>
          <p:cNvPr id="17" name="Parallelogram 16"/>
          <p:cNvSpPr/>
          <p:nvPr/>
        </p:nvSpPr>
        <p:spPr>
          <a:xfrm>
            <a:off x="9731919" y="2052735"/>
            <a:ext cx="2178754" cy="3045555"/>
          </a:xfrm>
          <a:prstGeom prst="parallelogram">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Educational  Awareness</a:t>
            </a:r>
            <a:endParaRPr lang="en-IN" sz="2400" dirty="0"/>
          </a:p>
        </p:txBody>
      </p:sp>
      <p:pic>
        <p:nvPicPr>
          <p:cNvPr id="18" name="Picture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6268" y="167952"/>
            <a:ext cx="673457" cy="633842"/>
          </a:xfrm>
          <a:prstGeom prst="rect">
            <a:avLst/>
          </a:prstGeom>
        </p:spPr>
      </p:pic>
    </p:spTree>
    <p:extLst>
      <p:ext uri="{BB962C8B-B14F-4D97-AF65-F5344CB8AC3E}">
        <p14:creationId xmlns:p14="http://schemas.microsoft.com/office/powerpoint/2010/main" val="31984813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86612"/>
            <a:ext cx="8596668" cy="1743788"/>
          </a:xfrm>
        </p:spPr>
        <p:txBody>
          <a:bodyPr/>
          <a:lstStyle/>
          <a:p>
            <a:r>
              <a:rPr lang="en-IN" dirty="0" smtClean="0"/>
              <a:t>       Password </a:t>
            </a:r>
            <a:r>
              <a:rPr lang="en-IN" dirty="0"/>
              <a:t>Threats</a:t>
            </a:r>
          </a:p>
        </p:txBody>
      </p:sp>
      <p:sp>
        <p:nvSpPr>
          <p:cNvPr id="3" name="Content Placeholder 2"/>
          <p:cNvSpPr>
            <a:spLocks noGrp="1"/>
          </p:cNvSpPr>
          <p:nvPr>
            <p:ph idx="1"/>
          </p:nvPr>
        </p:nvSpPr>
        <p:spPr>
          <a:xfrm>
            <a:off x="663336" y="1956616"/>
            <a:ext cx="9830146" cy="4035280"/>
          </a:xfrm>
        </p:spPr>
        <p:txBody>
          <a:bodyPr/>
          <a:lstStyle/>
          <a:p>
            <a:pPr marL="0" indent="0">
              <a:buNone/>
            </a:pPr>
            <a:endParaRPr lang="en-IN" dirty="0"/>
          </a:p>
        </p:txBody>
      </p:sp>
      <p:sp>
        <p:nvSpPr>
          <p:cNvPr id="7" name="Rectangle 6"/>
          <p:cNvSpPr/>
          <p:nvPr/>
        </p:nvSpPr>
        <p:spPr>
          <a:xfrm>
            <a:off x="663335" y="2080730"/>
            <a:ext cx="4739090" cy="7277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Brute Force Attacks</a:t>
            </a:r>
            <a:endParaRPr lang="en-IN" sz="2400" dirty="0"/>
          </a:p>
        </p:txBody>
      </p:sp>
      <p:sp>
        <p:nvSpPr>
          <p:cNvPr id="8" name="Rectangle 7"/>
          <p:cNvSpPr/>
          <p:nvPr/>
        </p:nvSpPr>
        <p:spPr>
          <a:xfrm>
            <a:off x="5411755" y="2090059"/>
            <a:ext cx="4711960" cy="709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Phishing</a:t>
            </a:r>
            <a:endParaRPr lang="en-IN" sz="2400" dirty="0"/>
          </a:p>
        </p:txBody>
      </p:sp>
      <p:sp>
        <p:nvSpPr>
          <p:cNvPr id="10" name="Rectangle 9"/>
          <p:cNvSpPr/>
          <p:nvPr/>
        </p:nvSpPr>
        <p:spPr>
          <a:xfrm>
            <a:off x="663336" y="2799187"/>
            <a:ext cx="4739086" cy="7533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Social Engineering</a:t>
            </a:r>
            <a:endParaRPr lang="en-IN" sz="2400" dirty="0"/>
          </a:p>
        </p:txBody>
      </p:sp>
      <p:sp>
        <p:nvSpPr>
          <p:cNvPr id="11" name="Rectangle 10"/>
          <p:cNvSpPr/>
          <p:nvPr/>
        </p:nvSpPr>
        <p:spPr>
          <a:xfrm>
            <a:off x="5411756" y="2808516"/>
            <a:ext cx="4702628" cy="7326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Password Reuse</a:t>
            </a:r>
            <a:endParaRPr lang="en-IN" sz="2400" dirty="0"/>
          </a:p>
        </p:txBody>
      </p:sp>
      <p:sp>
        <p:nvSpPr>
          <p:cNvPr id="13" name="Rectangle 12"/>
          <p:cNvSpPr/>
          <p:nvPr/>
        </p:nvSpPr>
        <p:spPr>
          <a:xfrm>
            <a:off x="663337" y="3558782"/>
            <a:ext cx="4776932" cy="8309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Keylogging</a:t>
            </a:r>
            <a:endParaRPr lang="en-IN" sz="2400" dirty="0"/>
          </a:p>
        </p:txBody>
      </p:sp>
      <p:sp>
        <p:nvSpPr>
          <p:cNvPr id="14" name="Rectangle 13"/>
          <p:cNvSpPr/>
          <p:nvPr/>
        </p:nvSpPr>
        <p:spPr>
          <a:xfrm>
            <a:off x="5398616" y="3531837"/>
            <a:ext cx="4725099" cy="8485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Dictionary Attacks</a:t>
            </a:r>
            <a:endParaRPr lang="en-IN" sz="2400" dirty="0"/>
          </a:p>
        </p:txBody>
      </p:sp>
      <p:sp>
        <p:nvSpPr>
          <p:cNvPr id="15" name="Rectangle 14"/>
          <p:cNvSpPr/>
          <p:nvPr/>
        </p:nvSpPr>
        <p:spPr>
          <a:xfrm>
            <a:off x="663336" y="4380396"/>
            <a:ext cx="4757748" cy="804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Insider Threats</a:t>
            </a:r>
            <a:endParaRPr lang="en-IN" sz="2400" dirty="0"/>
          </a:p>
        </p:txBody>
      </p:sp>
      <p:sp>
        <p:nvSpPr>
          <p:cNvPr id="16" name="Rectangle 15"/>
          <p:cNvSpPr/>
          <p:nvPr/>
        </p:nvSpPr>
        <p:spPr>
          <a:xfrm>
            <a:off x="5421083" y="4389730"/>
            <a:ext cx="4702632" cy="7837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Credential Stuffing</a:t>
            </a:r>
            <a:endParaRPr lang="en-IN" sz="2400" dirty="0"/>
          </a:p>
        </p:txBody>
      </p:sp>
      <p:sp>
        <p:nvSpPr>
          <p:cNvPr id="19" name="Rectangle 18"/>
          <p:cNvSpPr/>
          <p:nvPr/>
        </p:nvSpPr>
        <p:spPr>
          <a:xfrm>
            <a:off x="654005" y="5184853"/>
            <a:ext cx="4748419" cy="7450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Weak Password Policies</a:t>
            </a:r>
            <a:endParaRPr lang="en-IN" sz="2400" dirty="0"/>
          </a:p>
        </p:txBody>
      </p:sp>
      <p:sp>
        <p:nvSpPr>
          <p:cNvPr id="20" name="Rectangle 19"/>
          <p:cNvSpPr/>
          <p:nvPr/>
        </p:nvSpPr>
        <p:spPr>
          <a:xfrm>
            <a:off x="5421084" y="5136699"/>
            <a:ext cx="4693300" cy="7932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Unsecured Networks</a:t>
            </a:r>
            <a:endParaRPr lang="en-IN" sz="2400" dirty="0"/>
          </a:p>
        </p:txBody>
      </p:sp>
      <p:pic>
        <p:nvPicPr>
          <p:cNvPr id="21" name="Picture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2277" y="186612"/>
            <a:ext cx="587447" cy="625151"/>
          </a:xfrm>
          <a:prstGeom prst="rect">
            <a:avLst/>
          </a:prstGeom>
        </p:spPr>
      </p:pic>
    </p:spTree>
    <p:extLst>
      <p:ext uri="{BB962C8B-B14F-4D97-AF65-F5344CB8AC3E}">
        <p14:creationId xmlns:p14="http://schemas.microsoft.com/office/powerpoint/2010/main" val="20620768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119" y="44639"/>
            <a:ext cx="8602882" cy="1204740"/>
          </a:xfrm>
        </p:spPr>
        <p:txBody>
          <a:bodyPr>
            <a:normAutofit/>
          </a:bodyPr>
          <a:lstStyle/>
          <a:p>
            <a:r>
              <a:rPr lang="en-IN" dirty="0" smtClean="0"/>
              <a:t>Uses and Importance of password for Government Employees                                         </a:t>
            </a:r>
            <a:endParaRPr lang="en-IN" dirty="0"/>
          </a:p>
        </p:txBody>
      </p:sp>
      <p:sp>
        <p:nvSpPr>
          <p:cNvPr id="3" name="Content Placeholder 2"/>
          <p:cNvSpPr>
            <a:spLocks noGrp="1"/>
          </p:cNvSpPr>
          <p:nvPr>
            <p:ph idx="1"/>
          </p:nvPr>
        </p:nvSpPr>
        <p:spPr>
          <a:xfrm>
            <a:off x="452674" y="1249379"/>
            <a:ext cx="11098966" cy="5441132"/>
          </a:xfrm>
        </p:spPr>
        <p:txBody>
          <a:bodyPr>
            <a:normAutofit fontScale="92500" lnSpcReduction="20000"/>
          </a:bodyPr>
          <a:lstStyle/>
          <a:p>
            <a:pPr algn="just"/>
            <a:r>
              <a:rPr lang="en-US" b="1" dirty="0"/>
              <a:t>Accessing Government Resources:</a:t>
            </a:r>
            <a:r>
              <a:rPr lang="en-US" dirty="0"/>
              <a:t> Passwords safeguard access to online platforms where government employees retrieve critical documents, reports, and administrative materials.</a:t>
            </a:r>
          </a:p>
          <a:p>
            <a:pPr algn="just"/>
            <a:r>
              <a:rPr lang="en-US" b="1" dirty="0" smtClean="0"/>
              <a:t>Protecting </a:t>
            </a:r>
            <a:r>
              <a:rPr lang="en-US" b="1" dirty="0"/>
              <a:t>Citizen Data:</a:t>
            </a:r>
            <a:r>
              <a:rPr lang="en-US" dirty="0"/>
              <a:t> Passwords ensure the security of citizen records, financial data, and sensitive information stored within government databases or online systems.</a:t>
            </a:r>
          </a:p>
          <a:p>
            <a:pPr algn="just"/>
            <a:r>
              <a:rPr lang="en-US" b="1" dirty="0" smtClean="0"/>
              <a:t>Managing </a:t>
            </a:r>
            <a:r>
              <a:rPr lang="en-US" b="1" dirty="0"/>
              <a:t>Technology Resources:</a:t>
            </a:r>
            <a:r>
              <a:rPr lang="en-US" dirty="0"/>
              <a:t> Passwords control access to government computers, networks, and software applications, limiting usage to authorized personnel only.</a:t>
            </a:r>
          </a:p>
          <a:p>
            <a:pPr algn="just"/>
            <a:r>
              <a:rPr lang="en-US" b="1" dirty="0" smtClean="0"/>
              <a:t>Securing </a:t>
            </a:r>
            <a:r>
              <a:rPr lang="en-US" b="1" dirty="0"/>
              <a:t>Communication Channels:</a:t>
            </a:r>
            <a:r>
              <a:rPr lang="en-US" dirty="0"/>
              <a:t> Passwords protect government email accounts and messaging platforms, maintaining confidentiality in communication with constituents, colleagues, and stakeholders.</a:t>
            </a:r>
          </a:p>
          <a:p>
            <a:pPr algn="just"/>
            <a:r>
              <a:rPr lang="en-US" b="1" dirty="0" smtClean="0"/>
              <a:t>Safeguarding </a:t>
            </a:r>
            <a:r>
              <a:rPr lang="en-US" b="1" dirty="0"/>
              <a:t>Assessment Platforms:</a:t>
            </a:r>
            <a:r>
              <a:rPr lang="en-US" dirty="0"/>
              <a:t> Passwords secure online assessment tools used for government evaluations and tests, preventing unauthorized entry and preserving assessment integrity.</a:t>
            </a:r>
          </a:p>
          <a:p>
            <a:pPr algn="just"/>
            <a:r>
              <a:rPr lang="en-US" b="1" dirty="0"/>
              <a:t>Data Confidentiality:</a:t>
            </a:r>
            <a:r>
              <a:rPr lang="en-US" dirty="0"/>
              <a:t> Passwords safeguard classified government information, ensuring compliance with privacy regulations and preserving confidentiality.</a:t>
            </a:r>
          </a:p>
          <a:p>
            <a:pPr algn="just"/>
            <a:r>
              <a:rPr lang="en-US" b="1" dirty="0" smtClean="0"/>
              <a:t>Access </a:t>
            </a:r>
            <a:r>
              <a:rPr lang="en-US" b="1" dirty="0"/>
              <a:t>Control:</a:t>
            </a:r>
            <a:r>
              <a:rPr lang="en-US" dirty="0"/>
              <a:t> They serve as the primary barrier against unauthorized entry, protecting governmental resources and upholding system integrity.</a:t>
            </a:r>
          </a:p>
          <a:p>
            <a:pPr algn="just"/>
            <a:r>
              <a:rPr lang="en-US" b="1" dirty="0" smtClean="0"/>
              <a:t>Identity </a:t>
            </a:r>
            <a:r>
              <a:rPr lang="en-US" b="1" dirty="0"/>
              <a:t>Authentication:</a:t>
            </a:r>
            <a:r>
              <a:rPr lang="en-US" dirty="0"/>
              <a:t> Strong passwords verify the identity of government personnel online, thwarting impersonation attempts and preventing identity theft or fraudulent activity.</a:t>
            </a:r>
          </a:p>
          <a:p>
            <a:pPr algn="just"/>
            <a:r>
              <a:rPr lang="en-US" b="1" dirty="0" smtClean="0"/>
              <a:t>Professional </a:t>
            </a:r>
            <a:r>
              <a:rPr lang="en-US" b="1" dirty="0"/>
              <a:t>Accountability:</a:t>
            </a:r>
            <a:r>
              <a:rPr lang="en-US" dirty="0"/>
              <a:t> By securing their accounts, government employees maintain their professional integrity and trust within the organization, fostering credibility and reliability in digital interactions. vice failure.</a:t>
            </a:r>
          </a:p>
          <a:p>
            <a:pPr algn="just"/>
            <a:r>
              <a:rPr lang="en-US" b="1" dirty="0" smtClean="0"/>
              <a:t>Educational </a:t>
            </a:r>
            <a:r>
              <a:rPr lang="en-US" b="1" dirty="0"/>
              <a:t>Awareness:</a:t>
            </a:r>
            <a:r>
              <a:rPr lang="en-US" dirty="0"/>
              <a:t> Teaches about online safety and responsible digital behavior.</a:t>
            </a:r>
          </a:p>
          <a:p>
            <a:pPr marL="0" indent="0" algn="just">
              <a:buNone/>
            </a:pPr>
            <a:endParaRPr lang="en-IN"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58172" y="162083"/>
            <a:ext cx="587447" cy="552891"/>
          </a:xfrm>
          <a:prstGeom prst="rect">
            <a:avLst/>
          </a:prstGeom>
        </p:spPr>
      </p:pic>
    </p:spTree>
    <p:extLst>
      <p:ext uri="{BB962C8B-B14F-4D97-AF65-F5344CB8AC3E}">
        <p14:creationId xmlns:p14="http://schemas.microsoft.com/office/powerpoint/2010/main" val="18048852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17446"/>
            <a:ext cx="8359602" cy="1086666"/>
          </a:xfrm>
        </p:spPr>
        <p:txBody>
          <a:bodyPr/>
          <a:lstStyle/>
          <a:p>
            <a:r>
              <a:rPr lang="en-IN" dirty="0" smtClean="0"/>
              <a:t>Password Threats</a:t>
            </a:r>
            <a:endParaRPr lang="en-IN" dirty="0"/>
          </a:p>
        </p:txBody>
      </p:sp>
      <p:sp>
        <p:nvSpPr>
          <p:cNvPr id="3" name="Content Placeholder 2"/>
          <p:cNvSpPr>
            <a:spLocks noGrp="1"/>
          </p:cNvSpPr>
          <p:nvPr>
            <p:ph idx="1"/>
          </p:nvPr>
        </p:nvSpPr>
        <p:spPr>
          <a:xfrm>
            <a:off x="587229" y="878817"/>
            <a:ext cx="11409028" cy="5865932"/>
          </a:xfrm>
        </p:spPr>
        <p:txBody>
          <a:bodyPr>
            <a:noAutofit/>
          </a:bodyPr>
          <a:lstStyle/>
          <a:p>
            <a:r>
              <a:rPr lang="en-US" sz="1600" b="1" dirty="0"/>
              <a:t>Brute Force Attacks:</a:t>
            </a:r>
            <a:r>
              <a:rPr lang="en-US" sz="1600" dirty="0"/>
              <a:t> Automated tools repeatedly guess passwords until the correct one is found, targeting weak or easily guessable passwords.</a:t>
            </a:r>
          </a:p>
          <a:p>
            <a:r>
              <a:rPr lang="en-US" sz="1600" b="1" dirty="0" smtClean="0"/>
              <a:t>Phishing</a:t>
            </a:r>
            <a:r>
              <a:rPr lang="en-US" sz="1600" b="1" dirty="0"/>
              <a:t>:</a:t>
            </a:r>
            <a:r>
              <a:rPr lang="en-US" sz="1600" dirty="0"/>
              <a:t> Attackers trick individuals into revealing passwords through deceptive emails or messages mimicking legitimate entities.</a:t>
            </a:r>
          </a:p>
          <a:p>
            <a:r>
              <a:rPr lang="en-US" sz="1600" b="1" dirty="0" smtClean="0"/>
              <a:t>Social </a:t>
            </a:r>
            <a:r>
              <a:rPr lang="en-US" sz="1600" b="1" dirty="0"/>
              <a:t>Engineering:</a:t>
            </a:r>
            <a:r>
              <a:rPr lang="en-US" sz="1600" dirty="0"/>
              <a:t> Manipulative tactics, like posing as trusted sources, are used to extract passwords from unsuspecting employees.</a:t>
            </a:r>
          </a:p>
          <a:p>
            <a:r>
              <a:rPr lang="en-US" sz="1600" b="1" dirty="0" smtClean="0"/>
              <a:t>Password </a:t>
            </a:r>
            <a:r>
              <a:rPr lang="en-US" sz="1600" b="1" dirty="0"/>
              <a:t>Reuse:</a:t>
            </a:r>
            <a:r>
              <a:rPr lang="en-US" sz="1600" dirty="0"/>
              <a:t> Using the same password across multiple accounts poses a risk; a breach in one account compromises others.</a:t>
            </a:r>
          </a:p>
          <a:p>
            <a:r>
              <a:rPr lang="en-US" sz="1600" b="1" dirty="0" smtClean="0"/>
              <a:t>Keylogging</a:t>
            </a:r>
            <a:r>
              <a:rPr lang="en-US" sz="1600" b="1" dirty="0"/>
              <a:t>:</a:t>
            </a:r>
            <a:r>
              <a:rPr lang="en-US" sz="1600" dirty="0"/>
              <a:t> Malicious software captures keystrokes, including passwords, potentially exposing sensitive login credentials.</a:t>
            </a:r>
          </a:p>
          <a:p>
            <a:r>
              <a:rPr lang="en-US" sz="1600" b="1" dirty="0" smtClean="0"/>
              <a:t>Dictionary </a:t>
            </a:r>
            <a:r>
              <a:rPr lang="en-US" sz="1600" b="1" dirty="0"/>
              <a:t>Attacks:</a:t>
            </a:r>
            <a:r>
              <a:rPr lang="en-US" sz="1600" dirty="0"/>
              <a:t> Lists of common passwords or words are employed to guess passwords, particularly those lacking complexity.</a:t>
            </a:r>
          </a:p>
          <a:p>
            <a:r>
              <a:rPr lang="en-US" sz="1600" b="1" dirty="0" smtClean="0"/>
              <a:t>Insider </a:t>
            </a:r>
            <a:r>
              <a:rPr lang="en-US" sz="1600" b="1" dirty="0"/>
              <a:t>Threats:</a:t>
            </a:r>
            <a:r>
              <a:rPr lang="en-US" sz="1600" dirty="0"/>
              <a:t> Malicious insiders or disgruntled employees may exploit their access to gain unauthorized entry to systems using passwords.</a:t>
            </a:r>
          </a:p>
          <a:p>
            <a:r>
              <a:rPr lang="en-US" sz="1600" b="1" dirty="0" smtClean="0"/>
              <a:t>Credential </a:t>
            </a:r>
            <a:r>
              <a:rPr lang="en-US" sz="1600" b="1" dirty="0"/>
              <a:t>Stuffing:</a:t>
            </a:r>
            <a:r>
              <a:rPr lang="en-US" sz="1600" dirty="0"/>
              <a:t> Stolen passwords from one breach are used to gain unauthorized access to other accounts.</a:t>
            </a:r>
          </a:p>
          <a:p>
            <a:r>
              <a:rPr lang="en-US" sz="1600" b="1" dirty="0" smtClean="0"/>
              <a:t>Weak </a:t>
            </a:r>
            <a:r>
              <a:rPr lang="en-US" sz="1600" b="1" dirty="0"/>
              <a:t>Password Policies:</a:t>
            </a:r>
            <a:r>
              <a:rPr lang="en-US" sz="1600" dirty="0"/>
              <a:t> Lack of enforcement or adherence to strong password policies increases vulnerability to attacks.</a:t>
            </a:r>
          </a:p>
          <a:p>
            <a:r>
              <a:rPr lang="en-US" sz="1600" b="1" dirty="0" smtClean="0"/>
              <a:t>Unsecured </a:t>
            </a:r>
            <a:r>
              <a:rPr lang="en-US" sz="1600" b="1" dirty="0"/>
              <a:t>Networks:</a:t>
            </a:r>
            <a:r>
              <a:rPr lang="en-US" sz="1600" dirty="0"/>
              <a:t> Accessing sensitive accounts or information over unsecured networks exposes passwords to interception by attackers.</a:t>
            </a:r>
          </a:p>
          <a:p>
            <a:endParaRPr lang="en-IN" sz="16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63991" y="236050"/>
            <a:ext cx="587447" cy="552891"/>
          </a:xfrm>
          <a:prstGeom prst="rect">
            <a:avLst/>
          </a:prstGeom>
        </p:spPr>
      </p:pic>
    </p:spTree>
    <p:extLst>
      <p:ext uri="{BB962C8B-B14F-4D97-AF65-F5344CB8AC3E}">
        <p14:creationId xmlns:p14="http://schemas.microsoft.com/office/powerpoint/2010/main" val="38562523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780" y="-74644"/>
            <a:ext cx="8636221" cy="1070526"/>
          </a:xfrm>
        </p:spPr>
        <p:txBody>
          <a:bodyPr/>
          <a:lstStyle/>
          <a:p>
            <a:r>
              <a:rPr lang="en-IN" dirty="0" smtClean="0"/>
              <a:t>Password Security—Best Practices</a:t>
            </a:r>
            <a:endParaRPr lang="en-IN" dirty="0"/>
          </a:p>
        </p:txBody>
      </p:sp>
      <p:sp>
        <p:nvSpPr>
          <p:cNvPr id="3" name="Content Placeholder 2"/>
          <p:cNvSpPr>
            <a:spLocks noGrp="1"/>
          </p:cNvSpPr>
          <p:nvPr>
            <p:ph idx="1"/>
          </p:nvPr>
        </p:nvSpPr>
        <p:spPr>
          <a:xfrm>
            <a:off x="50334" y="793102"/>
            <a:ext cx="11976825" cy="5660698"/>
          </a:xfrm>
        </p:spPr>
        <p:txBody>
          <a:bodyPr>
            <a:noAutofit/>
          </a:bodyPr>
          <a:lstStyle/>
          <a:p>
            <a:pPr algn="just"/>
            <a:r>
              <a:rPr lang="en-US" sz="2200" dirty="0"/>
              <a:t>Using a long and complex password that is difficult to guess or crack. This typically means using a mix of upper- and lower-case letters, numbers, and special </a:t>
            </a:r>
            <a:r>
              <a:rPr lang="en-US" sz="2200" dirty="0" smtClean="0"/>
              <a:t>characters</a:t>
            </a:r>
          </a:p>
          <a:p>
            <a:r>
              <a:rPr lang="en-US" sz="2200" dirty="0"/>
              <a:t>Avoiding using easily guessed information, such as your name, address, or phone number, in your password.</a:t>
            </a:r>
          </a:p>
          <a:p>
            <a:r>
              <a:rPr lang="en-US" sz="2200" dirty="0"/>
              <a:t>Using different passwords for different accounts, so that a compromise of one password does not give an attacker access to multiple accounts.</a:t>
            </a:r>
          </a:p>
          <a:p>
            <a:r>
              <a:rPr lang="en-US" sz="2200" dirty="0"/>
              <a:t>Updating passwords regularly, especially if there is any suspicion that a password may have been compromised</a:t>
            </a:r>
            <a:r>
              <a:rPr lang="en-US" sz="2200" dirty="0" smtClean="0"/>
              <a:t>.</a:t>
            </a:r>
          </a:p>
          <a:p>
            <a:r>
              <a:rPr lang="en-US" sz="2200" dirty="0" smtClean="0"/>
              <a:t>Use different passwords for different social media accounts and emails.</a:t>
            </a:r>
            <a:endParaRPr lang="en-US" sz="2200" dirty="0"/>
          </a:p>
          <a:p>
            <a:r>
              <a:rPr lang="en-US" sz="2200" dirty="0"/>
              <a:t>Enabling Two-factor authentication (2FA) can be another great step to secure the password. This adds extra verification to make sure that the person logging in is you by asking a second method of verification such as a code sent to your phone or an app that generates a code</a:t>
            </a:r>
            <a:r>
              <a:rPr lang="en-US" sz="2200" dirty="0" smtClean="0"/>
              <a:t>.</a:t>
            </a:r>
          </a:p>
          <a:p>
            <a:r>
              <a:rPr lang="en-US" sz="2200" dirty="0"/>
              <a:t>Exercise caution with emails, messages, or calls requesting passwords or personal information, as legitimate organizations will not ask for this via email or message.</a:t>
            </a:r>
          </a:p>
          <a:p>
            <a:endParaRPr lang="en-US" sz="2000" dirty="0" smtClean="0"/>
          </a:p>
          <a:p>
            <a:endParaRPr lang="en-IN" sz="20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50334" y="162962"/>
            <a:ext cx="587447" cy="552891"/>
          </a:xfrm>
          <a:prstGeom prst="rect">
            <a:avLst/>
          </a:prstGeom>
        </p:spPr>
      </p:pic>
    </p:spTree>
    <p:extLst>
      <p:ext uri="{BB962C8B-B14F-4D97-AF65-F5344CB8AC3E}">
        <p14:creationId xmlns:p14="http://schemas.microsoft.com/office/powerpoint/2010/main" val="2226462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29508"/>
            <a:ext cx="12192000" cy="6828491"/>
          </a:xfrm>
        </p:spPr>
      </p:pic>
      <p:sp>
        <p:nvSpPr>
          <p:cNvPr id="5" name="AutoShape 2" descr="IITKGP Founda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9314" y="824814"/>
            <a:ext cx="587447" cy="552891"/>
          </a:xfrm>
          <a:prstGeom prst="rect">
            <a:avLst/>
          </a:prstGeom>
        </p:spPr>
      </p:pic>
    </p:spTree>
    <p:extLst>
      <p:ext uri="{BB962C8B-B14F-4D97-AF65-F5344CB8AC3E}">
        <p14:creationId xmlns:p14="http://schemas.microsoft.com/office/powerpoint/2010/main" val="28957660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120" y="142613"/>
            <a:ext cx="8451881" cy="1787787"/>
          </a:xfrm>
        </p:spPr>
        <p:txBody>
          <a:bodyPr/>
          <a:lstStyle/>
          <a:p>
            <a:r>
              <a:rPr lang="en-IN" dirty="0" smtClean="0"/>
              <a:t>Malware Protection</a:t>
            </a:r>
            <a:endParaRPr lang="en-IN" dirty="0"/>
          </a:p>
        </p:txBody>
      </p:sp>
      <p:sp>
        <p:nvSpPr>
          <p:cNvPr id="3" name="Content Placeholder 2"/>
          <p:cNvSpPr>
            <a:spLocks noGrp="1"/>
          </p:cNvSpPr>
          <p:nvPr>
            <p:ph idx="1"/>
          </p:nvPr>
        </p:nvSpPr>
        <p:spPr>
          <a:xfrm>
            <a:off x="436229" y="1040234"/>
            <a:ext cx="10880520" cy="5226341"/>
          </a:xfrm>
        </p:spPr>
        <p:txBody>
          <a:bodyPr>
            <a:noAutofit/>
          </a:bodyPr>
          <a:lstStyle/>
          <a:p>
            <a:pPr algn="just"/>
            <a:r>
              <a:rPr lang="en-US" sz="2000" dirty="0"/>
              <a:t>Malware is a term used to describe any software that is designed to harm a computer system or its users. Malware can take many forms, including viruses, worms, Trojan horses, ransomware, and spyware</a:t>
            </a:r>
            <a:r>
              <a:rPr lang="en-US" sz="2000" dirty="0" smtClean="0"/>
              <a:t>.</a:t>
            </a:r>
          </a:p>
          <a:p>
            <a:pPr algn="just"/>
            <a:r>
              <a:rPr lang="en-US" sz="2000" b="1" dirty="0"/>
              <a:t>Viruses</a:t>
            </a:r>
            <a:r>
              <a:rPr lang="en-US" sz="2000" dirty="0"/>
              <a:t> are self-replicating programs that can spread from one computer to another. They can damage files, steal data, or even take control of a computer.</a:t>
            </a:r>
          </a:p>
          <a:p>
            <a:pPr algn="just"/>
            <a:r>
              <a:rPr lang="en-US" sz="2000" b="1" dirty="0"/>
              <a:t>Worms</a:t>
            </a:r>
            <a:r>
              <a:rPr lang="en-US" sz="2000" dirty="0"/>
              <a:t> are similar to viruses, but they can spread without the need for human interaction. They can also be used to spread viruses.</a:t>
            </a:r>
          </a:p>
          <a:p>
            <a:pPr algn="just"/>
            <a:r>
              <a:rPr lang="en-US" sz="2000" b="1" dirty="0"/>
              <a:t>Trojan horses</a:t>
            </a:r>
            <a:r>
              <a:rPr lang="en-US" sz="2000" dirty="0"/>
              <a:t> are malicious programs that are disguised as something else, such as a legitimate file or a website. When a user opens or runs a Trojan horse, it can install malware on the computer.</a:t>
            </a:r>
          </a:p>
          <a:p>
            <a:pPr algn="just"/>
            <a:r>
              <a:rPr lang="en-US" sz="2000" b="1" dirty="0"/>
              <a:t>Ransomware</a:t>
            </a:r>
            <a:r>
              <a:rPr lang="en-US" sz="2000" dirty="0"/>
              <a:t> is a type of malware that encrypts a victim's files and demands a ransom payment in order to decrypt them.</a:t>
            </a:r>
          </a:p>
          <a:p>
            <a:pPr algn="just"/>
            <a:r>
              <a:rPr lang="en-US" sz="2000" b="1" dirty="0"/>
              <a:t>Spyware</a:t>
            </a:r>
            <a:r>
              <a:rPr lang="en-US" sz="2000" dirty="0"/>
              <a:t> is a type of malware that is designed to collect information about a user's computer activity. This information can then be used to track the user's online habits or even steal their personal information</a:t>
            </a:r>
            <a:r>
              <a:rPr lang="en-US" sz="2000" dirty="0" smtClean="0"/>
              <a:t>.</a:t>
            </a:r>
          </a:p>
          <a:p>
            <a:endParaRPr lang="en-US" sz="2000" dirty="0" smtClean="0"/>
          </a:p>
          <a:p>
            <a:endParaRPr lang="en-US" sz="2000" dirty="0"/>
          </a:p>
          <a:p>
            <a:endParaRPr lang="en-IN" sz="20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89887" y="262751"/>
            <a:ext cx="587447" cy="552891"/>
          </a:xfrm>
          <a:prstGeom prst="rect">
            <a:avLst/>
          </a:prstGeom>
        </p:spPr>
      </p:pic>
    </p:spTree>
    <p:extLst>
      <p:ext uri="{BB962C8B-B14F-4D97-AF65-F5344CB8AC3E}">
        <p14:creationId xmlns:p14="http://schemas.microsoft.com/office/powerpoint/2010/main" val="1293853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010" y="67113"/>
            <a:ext cx="8367991" cy="910662"/>
          </a:xfrm>
        </p:spPr>
        <p:txBody>
          <a:bodyPr/>
          <a:lstStyle/>
          <a:p>
            <a:pPr algn="just"/>
            <a:r>
              <a:rPr lang="en-IN" dirty="0" smtClean="0"/>
              <a:t>Impact of Malware</a:t>
            </a:r>
            <a:endParaRPr lang="en-IN" dirty="0"/>
          </a:p>
        </p:txBody>
      </p:sp>
      <p:sp>
        <p:nvSpPr>
          <p:cNvPr id="3" name="Content Placeholder 2"/>
          <p:cNvSpPr>
            <a:spLocks noGrp="1"/>
          </p:cNvSpPr>
          <p:nvPr>
            <p:ph idx="1"/>
          </p:nvPr>
        </p:nvSpPr>
        <p:spPr>
          <a:xfrm>
            <a:off x="234892" y="1124125"/>
            <a:ext cx="11367082" cy="5192786"/>
          </a:xfrm>
        </p:spPr>
        <p:txBody>
          <a:bodyPr>
            <a:normAutofit fontScale="25000" lnSpcReduction="20000"/>
          </a:bodyPr>
          <a:lstStyle/>
          <a:p>
            <a:pPr lvl="0" algn="just"/>
            <a:r>
              <a:rPr lang="en-IN" sz="6400" b="1" dirty="0"/>
              <a:t>Data theft:</a:t>
            </a:r>
            <a:r>
              <a:rPr lang="en-IN" sz="6400" dirty="0"/>
              <a:t> Malware can be used to steal personal information, such as credit card numbers, passwords, and Social Security numbers. This information can then be used to commit identity theft or other crimes.</a:t>
            </a:r>
          </a:p>
          <a:p>
            <a:pPr lvl="0" algn="just"/>
            <a:r>
              <a:rPr lang="en-IN" sz="6400" b="1" dirty="0"/>
              <a:t>Financial loss:</a:t>
            </a:r>
            <a:r>
              <a:rPr lang="en-IN" sz="6400" dirty="0"/>
              <a:t> Malware can be used to infect computers with ransomware, which encrypts files and demands a ransom payment in order to decrypt them. Victims who do not pay the ransom may lose access to their files permanently.</a:t>
            </a:r>
          </a:p>
          <a:p>
            <a:pPr lvl="0" algn="just"/>
            <a:r>
              <a:rPr lang="en-IN" sz="6400" b="1" dirty="0"/>
              <a:t>System damage:</a:t>
            </a:r>
            <a:r>
              <a:rPr lang="en-IN" sz="6400" dirty="0"/>
              <a:t> Malware can damage computer systems by deleting files, corrupting data, or disrupting operations. This can lead to downtime, lost productivity, and even data loss.</a:t>
            </a:r>
          </a:p>
          <a:p>
            <a:pPr lvl="0" algn="just"/>
            <a:r>
              <a:rPr lang="en-IN" sz="6400" b="1" dirty="0"/>
              <a:t>Cyberbullying:</a:t>
            </a:r>
            <a:r>
              <a:rPr lang="en-IN" sz="6400" dirty="0"/>
              <a:t> Malware can be used to spread cyberbullying messages or images. This can have a devastating impact on the victim's mental and emotional health.</a:t>
            </a:r>
          </a:p>
          <a:p>
            <a:pPr lvl="0" algn="just"/>
            <a:r>
              <a:rPr lang="en-IN" sz="6400" b="1" dirty="0"/>
              <a:t>State-sponsored attacks:</a:t>
            </a:r>
            <a:r>
              <a:rPr lang="en-IN" sz="6400" dirty="0"/>
              <a:t> Malware can be used by state-sponsored actors to launch cyberattacks against governments, businesses, or other organizations. These attacks can have a significant impact on national security and economic stability</a:t>
            </a:r>
          </a:p>
          <a:p>
            <a:pPr lvl="0" algn="just"/>
            <a:r>
              <a:rPr lang="en-IN" sz="6400" b="1" dirty="0"/>
              <a:t>Monitor your online activity:</a:t>
            </a:r>
            <a:r>
              <a:rPr lang="en-IN" sz="6400" dirty="0"/>
              <a:t> Malware can be used to track your browsing history, search terms, and other online activity. This information can then be used to target you with advertising or to steal your personal information.</a:t>
            </a:r>
          </a:p>
          <a:p>
            <a:pPr lvl="0" algn="just"/>
            <a:r>
              <a:rPr lang="en-IN" sz="6400" b="1" dirty="0"/>
              <a:t>Take control of your computer:</a:t>
            </a:r>
            <a:r>
              <a:rPr lang="en-IN" sz="6400" dirty="0"/>
              <a:t> Malware can be used to give an attacker full control of your computer. This means that they could access your files, install other malware, or even use your computer to launch attacks on other systems.</a:t>
            </a:r>
          </a:p>
          <a:p>
            <a:pPr lvl="0" algn="just"/>
            <a:r>
              <a:rPr lang="en-IN" sz="6400" b="1" dirty="0"/>
              <a:t>Spread to other computers:</a:t>
            </a:r>
            <a:r>
              <a:rPr lang="en-IN" sz="6400" dirty="0"/>
              <a:t> Malware can spread from one computer to another through a variety of ways, such as email attachments, infected websites, and USB drives. This means that if your computer is infected with malware, it could infect other computers on your network or even computers that you connect to.</a:t>
            </a:r>
          </a:p>
          <a:p>
            <a:pPr algn="just"/>
            <a:endParaRPr lang="en-IN"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1563" y="229195"/>
            <a:ext cx="587447" cy="552891"/>
          </a:xfrm>
          <a:prstGeom prst="rect">
            <a:avLst/>
          </a:prstGeom>
        </p:spPr>
      </p:pic>
    </p:spTree>
    <p:extLst>
      <p:ext uri="{BB962C8B-B14F-4D97-AF65-F5344CB8AC3E}">
        <p14:creationId xmlns:p14="http://schemas.microsoft.com/office/powerpoint/2010/main" val="17317502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286" y="169398"/>
            <a:ext cx="7967716" cy="1761002"/>
          </a:xfrm>
        </p:spPr>
        <p:txBody>
          <a:bodyPr/>
          <a:lstStyle/>
          <a:p>
            <a:r>
              <a:rPr lang="en-IN" dirty="0"/>
              <a:t>Impact of Malware</a:t>
            </a:r>
          </a:p>
        </p:txBody>
      </p:sp>
      <p:sp>
        <p:nvSpPr>
          <p:cNvPr id="3" name="Content Placeholder 2"/>
          <p:cNvSpPr>
            <a:spLocks noGrp="1"/>
          </p:cNvSpPr>
          <p:nvPr>
            <p:ph idx="1"/>
          </p:nvPr>
        </p:nvSpPr>
        <p:spPr>
          <a:xfrm>
            <a:off x="679724" y="989901"/>
            <a:ext cx="10628636" cy="5771626"/>
          </a:xfrm>
        </p:spPr>
        <p:txBody>
          <a:bodyPr/>
          <a:lstStyle/>
          <a:p>
            <a:endParaRPr lang="en-IN" dirty="0"/>
          </a:p>
        </p:txBody>
      </p:sp>
      <p:sp>
        <p:nvSpPr>
          <p:cNvPr id="4" name="Oval 3"/>
          <p:cNvSpPr/>
          <p:nvPr/>
        </p:nvSpPr>
        <p:spPr>
          <a:xfrm>
            <a:off x="796954" y="4337107"/>
            <a:ext cx="2655177" cy="21895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Data Theft</a:t>
            </a:r>
            <a:endParaRPr lang="en-IN" sz="2400" dirty="0"/>
          </a:p>
        </p:txBody>
      </p:sp>
      <p:sp>
        <p:nvSpPr>
          <p:cNvPr id="11" name="Oval 10"/>
          <p:cNvSpPr/>
          <p:nvPr/>
        </p:nvSpPr>
        <p:spPr>
          <a:xfrm>
            <a:off x="3454214" y="4437774"/>
            <a:ext cx="2432808" cy="19881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Financial Loss</a:t>
            </a:r>
            <a:endParaRPr lang="en-IN" sz="2400" dirty="0"/>
          </a:p>
        </p:txBody>
      </p:sp>
      <p:sp>
        <p:nvSpPr>
          <p:cNvPr id="12" name="Oval 11"/>
          <p:cNvSpPr/>
          <p:nvPr/>
        </p:nvSpPr>
        <p:spPr>
          <a:xfrm>
            <a:off x="5903286" y="4530055"/>
            <a:ext cx="2468927" cy="19617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System Damage</a:t>
            </a:r>
            <a:endParaRPr lang="en-IN" sz="2400" dirty="0"/>
          </a:p>
        </p:txBody>
      </p:sp>
      <p:sp>
        <p:nvSpPr>
          <p:cNvPr id="13" name="Oval 12"/>
          <p:cNvSpPr/>
          <p:nvPr/>
        </p:nvSpPr>
        <p:spPr>
          <a:xfrm>
            <a:off x="2168725" y="2747473"/>
            <a:ext cx="2806943" cy="18683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State Sponsored attacks</a:t>
            </a:r>
            <a:endParaRPr lang="en-IN" sz="2400" dirty="0"/>
          </a:p>
        </p:txBody>
      </p:sp>
      <p:sp>
        <p:nvSpPr>
          <p:cNvPr id="14" name="Oval 13"/>
          <p:cNvSpPr/>
          <p:nvPr/>
        </p:nvSpPr>
        <p:spPr>
          <a:xfrm>
            <a:off x="5001305" y="2769053"/>
            <a:ext cx="2767459" cy="18468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Monitor your online activities</a:t>
            </a:r>
            <a:endParaRPr lang="en-IN" sz="2400" dirty="0"/>
          </a:p>
        </p:txBody>
      </p:sp>
      <p:sp>
        <p:nvSpPr>
          <p:cNvPr id="15" name="Oval 14"/>
          <p:cNvSpPr/>
          <p:nvPr/>
        </p:nvSpPr>
        <p:spPr>
          <a:xfrm>
            <a:off x="8372214" y="4530055"/>
            <a:ext cx="2936146" cy="17596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Cyberbullying</a:t>
            </a:r>
            <a:endParaRPr lang="en-IN" sz="2400" dirty="0"/>
          </a:p>
        </p:txBody>
      </p:sp>
      <p:sp>
        <p:nvSpPr>
          <p:cNvPr id="18" name="Oval 17"/>
          <p:cNvSpPr/>
          <p:nvPr/>
        </p:nvSpPr>
        <p:spPr>
          <a:xfrm>
            <a:off x="7776102" y="2789293"/>
            <a:ext cx="2984983" cy="17429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Take control of your computer</a:t>
            </a:r>
            <a:endParaRPr lang="en-IN" sz="2400" dirty="0"/>
          </a:p>
        </p:txBody>
      </p:sp>
      <p:sp>
        <p:nvSpPr>
          <p:cNvPr id="19" name="Rectangle 18"/>
          <p:cNvSpPr/>
          <p:nvPr/>
        </p:nvSpPr>
        <p:spPr>
          <a:xfrm>
            <a:off x="3832851" y="1937251"/>
            <a:ext cx="5377343" cy="824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Spread to other Computers</a:t>
            </a:r>
            <a:endParaRPr lang="en-IN" sz="2400" dirty="0"/>
          </a:p>
        </p:txBody>
      </p: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2277" y="169398"/>
            <a:ext cx="587447" cy="632395"/>
          </a:xfrm>
          <a:prstGeom prst="rect">
            <a:avLst/>
          </a:prstGeom>
        </p:spPr>
      </p:pic>
    </p:spTree>
    <p:extLst>
      <p:ext uri="{BB962C8B-B14F-4D97-AF65-F5344CB8AC3E}">
        <p14:creationId xmlns:p14="http://schemas.microsoft.com/office/powerpoint/2010/main" val="23462651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4066" y="190124"/>
            <a:ext cx="8409936" cy="769544"/>
          </a:xfrm>
        </p:spPr>
        <p:txBody>
          <a:bodyPr/>
          <a:lstStyle/>
          <a:p>
            <a:r>
              <a:rPr lang="en-IN" dirty="0" smtClean="0"/>
              <a:t>Warning Signs</a:t>
            </a:r>
            <a:endParaRPr lang="en-IN" dirty="0"/>
          </a:p>
        </p:txBody>
      </p:sp>
      <p:sp>
        <p:nvSpPr>
          <p:cNvPr id="3" name="Content Placeholder 2"/>
          <p:cNvSpPr>
            <a:spLocks noGrp="1"/>
          </p:cNvSpPr>
          <p:nvPr>
            <p:ph idx="1"/>
          </p:nvPr>
        </p:nvSpPr>
        <p:spPr>
          <a:xfrm>
            <a:off x="419450" y="959668"/>
            <a:ext cx="11098633" cy="5600523"/>
          </a:xfrm>
        </p:spPr>
        <p:txBody>
          <a:bodyPr>
            <a:noAutofit/>
          </a:bodyPr>
          <a:lstStyle/>
          <a:p>
            <a:pPr lvl="0" algn="just"/>
            <a:r>
              <a:rPr lang="en-IN" sz="1700" b="1" dirty="0"/>
              <a:t>Your computer starts to run slowly:</a:t>
            </a:r>
            <a:r>
              <a:rPr lang="en-IN" sz="1700" dirty="0"/>
              <a:t> Malware can slow down your computer by using up system resources.</a:t>
            </a:r>
          </a:p>
          <a:p>
            <a:pPr lvl="0" algn="just"/>
            <a:r>
              <a:rPr lang="en-IN" sz="1700" b="1" dirty="0"/>
              <a:t>Your computer crashes or freezes frequently:</a:t>
            </a:r>
            <a:r>
              <a:rPr lang="en-IN" sz="1700" dirty="0"/>
              <a:t> Malware can cause your computer to crash or freeze because it is interfering with the operating system.</a:t>
            </a:r>
          </a:p>
          <a:p>
            <a:pPr lvl="0" algn="just"/>
            <a:r>
              <a:rPr lang="en-IN" sz="1700" b="1" dirty="0"/>
              <a:t>Your browser starts to open new tabs or windows unexpectedly:</a:t>
            </a:r>
            <a:r>
              <a:rPr lang="en-IN" sz="1700" dirty="0"/>
              <a:t> Malware can hijack your browser and open new tabs or windows without your permission.</a:t>
            </a:r>
          </a:p>
          <a:p>
            <a:pPr lvl="0" algn="just"/>
            <a:r>
              <a:rPr lang="en-IN" sz="1700" b="1" dirty="0"/>
              <a:t>You see pop-up ads that you didn't click on:</a:t>
            </a:r>
            <a:r>
              <a:rPr lang="en-IN" sz="1700" dirty="0"/>
              <a:t> Malware can display pop-up ads on your computer without your permission.</a:t>
            </a:r>
          </a:p>
          <a:p>
            <a:pPr lvl="0" algn="just"/>
            <a:r>
              <a:rPr lang="en-IN" sz="1700" b="1" dirty="0"/>
              <a:t>Your homepage changes without your permission:</a:t>
            </a:r>
            <a:r>
              <a:rPr lang="en-IN" sz="1700" dirty="0"/>
              <a:t> Malware can change your homepage to a malicious website.</a:t>
            </a:r>
          </a:p>
          <a:p>
            <a:pPr lvl="0" algn="just"/>
            <a:r>
              <a:rPr lang="en-IN" sz="1700" b="1" dirty="0"/>
              <a:t>You receive emails from addresses you don't recognize:</a:t>
            </a:r>
            <a:r>
              <a:rPr lang="en-IN" sz="1700" dirty="0"/>
              <a:t> Malware can send emails from your computer to your contacts.</a:t>
            </a:r>
          </a:p>
          <a:p>
            <a:pPr lvl="0" algn="just"/>
            <a:r>
              <a:rPr lang="en-IN" sz="1700" b="1" dirty="0"/>
              <a:t>Your files are deleted or damaged: </a:t>
            </a:r>
            <a:r>
              <a:rPr lang="en-IN" sz="1700" dirty="0"/>
              <a:t>Malware can delete or damage your files.</a:t>
            </a:r>
          </a:p>
          <a:p>
            <a:pPr lvl="0" algn="just"/>
            <a:r>
              <a:rPr lang="en-IN" sz="1700" b="1" dirty="0"/>
              <a:t>Your computer is locked and you're asked to pay a ransom:</a:t>
            </a:r>
            <a:r>
              <a:rPr lang="en-IN" sz="1700" dirty="0"/>
              <a:t> This is a sign of ransomware, a type of malware that encrypts your files and demands a ransom payment in order to decrypt them.</a:t>
            </a:r>
          </a:p>
          <a:p>
            <a:pPr marL="0" indent="0" algn="just">
              <a:buNone/>
            </a:pPr>
            <a:r>
              <a:rPr lang="en-IN" sz="1700" dirty="0"/>
              <a:t>If you see any of these warning signs, it's important to scan your computer for malware immediately. You can use an antivirus program to scan your computer.</a:t>
            </a:r>
          </a:p>
          <a:p>
            <a:pPr marL="0" indent="0" algn="just">
              <a:buNone/>
            </a:pPr>
            <a:r>
              <a:rPr lang="en-IN" sz="1700" dirty="0"/>
              <a:t> </a:t>
            </a:r>
          </a:p>
          <a:p>
            <a:endParaRPr lang="en-IN" sz="17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0" y="120139"/>
            <a:ext cx="587447" cy="552891"/>
          </a:xfrm>
          <a:prstGeom prst="rect">
            <a:avLst/>
          </a:prstGeom>
        </p:spPr>
      </p:pic>
    </p:spTree>
    <p:extLst>
      <p:ext uri="{BB962C8B-B14F-4D97-AF65-F5344CB8AC3E}">
        <p14:creationId xmlns:p14="http://schemas.microsoft.com/office/powerpoint/2010/main" val="34983438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67952"/>
            <a:ext cx="8596668" cy="699796"/>
          </a:xfrm>
        </p:spPr>
        <p:txBody>
          <a:bodyPr/>
          <a:lstStyle/>
          <a:p>
            <a:r>
              <a:rPr lang="en-IN" dirty="0" smtClean="0"/>
              <a:t>       </a:t>
            </a:r>
            <a:r>
              <a:rPr lang="en-IN" dirty="0"/>
              <a:t>Warning Signs</a:t>
            </a:r>
          </a:p>
        </p:txBody>
      </p:sp>
      <p:sp>
        <p:nvSpPr>
          <p:cNvPr id="3" name="Content Placeholder 2"/>
          <p:cNvSpPr>
            <a:spLocks noGrp="1"/>
          </p:cNvSpPr>
          <p:nvPr>
            <p:ph idx="1"/>
          </p:nvPr>
        </p:nvSpPr>
        <p:spPr>
          <a:xfrm>
            <a:off x="814951" y="2022988"/>
            <a:ext cx="9800944" cy="4035280"/>
          </a:xfrm>
        </p:spPr>
        <p:txBody>
          <a:bodyPr/>
          <a:lstStyle/>
          <a:p>
            <a:pPr marL="0" indent="0">
              <a:buNone/>
            </a:pPr>
            <a:endParaRPr lang="en-IN" dirty="0"/>
          </a:p>
        </p:txBody>
      </p:sp>
      <p:sp>
        <p:nvSpPr>
          <p:cNvPr id="7" name="Rectangle 6"/>
          <p:cNvSpPr/>
          <p:nvPr/>
        </p:nvSpPr>
        <p:spPr>
          <a:xfrm>
            <a:off x="698328" y="1584117"/>
            <a:ext cx="5067990" cy="10835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Your Computer starts to run slowly</a:t>
            </a:r>
            <a:endParaRPr lang="en-IN" sz="2400" dirty="0"/>
          </a:p>
        </p:txBody>
      </p:sp>
      <p:sp>
        <p:nvSpPr>
          <p:cNvPr id="8" name="Rectangle 7"/>
          <p:cNvSpPr/>
          <p:nvPr/>
        </p:nvSpPr>
        <p:spPr>
          <a:xfrm>
            <a:off x="5766318" y="1584116"/>
            <a:ext cx="4887700" cy="10835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Your Computer crashes or freezes frequently</a:t>
            </a:r>
            <a:endParaRPr lang="en-IN" sz="2400" dirty="0"/>
          </a:p>
        </p:txBody>
      </p:sp>
      <p:sp>
        <p:nvSpPr>
          <p:cNvPr id="10" name="Rectangle 9"/>
          <p:cNvSpPr/>
          <p:nvPr/>
        </p:nvSpPr>
        <p:spPr>
          <a:xfrm>
            <a:off x="722936" y="2667698"/>
            <a:ext cx="5043381" cy="12223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Your browser starts to open new tabs or windows unexpectedly</a:t>
            </a:r>
          </a:p>
        </p:txBody>
      </p:sp>
      <p:sp>
        <p:nvSpPr>
          <p:cNvPr id="11" name="Rectangle 10"/>
          <p:cNvSpPr/>
          <p:nvPr/>
        </p:nvSpPr>
        <p:spPr>
          <a:xfrm>
            <a:off x="5754848" y="2667698"/>
            <a:ext cx="4899170" cy="12010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You see pop-up ads that you didn't click on</a:t>
            </a:r>
          </a:p>
        </p:txBody>
      </p:sp>
      <p:sp>
        <p:nvSpPr>
          <p:cNvPr id="13" name="Rectangle 12"/>
          <p:cNvSpPr/>
          <p:nvPr/>
        </p:nvSpPr>
        <p:spPr>
          <a:xfrm>
            <a:off x="722937" y="3890009"/>
            <a:ext cx="5018772" cy="1025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You receive emails from addresses you don't recognize</a:t>
            </a:r>
          </a:p>
        </p:txBody>
      </p:sp>
      <p:sp>
        <p:nvSpPr>
          <p:cNvPr id="14" name="Rectangle 13"/>
          <p:cNvSpPr/>
          <p:nvPr/>
        </p:nvSpPr>
        <p:spPr>
          <a:xfrm>
            <a:off x="5741709" y="3868728"/>
            <a:ext cx="4874185" cy="10472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Your files are deleted or damaged</a:t>
            </a:r>
            <a:endParaRPr lang="en-IN" sz="2400" dirty="0"/>
          </a:p>
        </p:txBody>
      </p:sp>
      <p:sp>
        <p:nvSpPr>
          <p:cNvPr id="15" name="Rectangle 14"/>
          <p:cNvSpPr/>
          <p:nvPr/>
        </p:nvSpPr>
        <p:spPr>
          <a:xfrm>
            <a:off x="722937" y="4915949"/>
            <a:ext cx="5018771" cy="1025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Your homepage changes without your permission</a:t>
            </a:r>
          </a:p>
        </p:txBody>
      </p:sp>
      <p:sp>
        <p:nvSpPr>
          <p:cNvPr id="16" name="Rectangle 15"/>
          <p:cNvSpPr/>
          <p:nvPr/>
        </p:nvSpPr>
        <p:spPr>
          <a:xfrm>
            <a:off x="5741708" y="4915949"/>
            <a:ext cx="4874186" cy="10402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Your computer is locked and you're asked to pay a ransom</a:t>
            </a:r>
          </a:p>
        </p:txBody>
      </p:sp>
      <p:pic>
        <p:nvPicPr>
          <p:cNvPr id="17" name="Picture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2279" y="248902"/>
            <a:ext cx="587447" cy="552891"/>
          </a:xfrm>
          <a:prstGeom prst="rect">
            <a:avLst/>
          </a:prstGeom>
        </p:spPr>
      </p:pic>
    </p:spTree>
    <p:extLst>
      <p:ext uri="{BB962C8B-B14F-4D97-AF65-F5344CB8AC3E}">
        <p14:creationId xmlns:p14="http://schemas.microsoft.com/office/powerpoint/2010/main" val="7590595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236" y="-81481"/>
            <a:ext cx="8554766" cy="760491"/>
          </a:xfrm>
        </p:spPr>
        <p:txBody>
          <a:bodyPr>
            <a:normAutofit/>
          </a:bodyPr>
          <a:lstStyle/>
          <a:p>
            <a:r>
              <a:rPr lang="en-IN" dirty="0" smtClean="0"/>
              <a:t>Precautions to be taken </a:t>
            </a:r>
            <a:endParaRPr lang="en-IN" dirty="0"/>
          </a:p>
        </p:txBody>
      </p:sp>
      <p:sp>
        <p:nvSpPr>
          <p:cNvPr id="3" name="Content Placeholder 2"/>
          <p:cNvSpPr>
            <a:spLocks noGrp="1"/>
          </p:cNvSpPr>
          <p:nvPr>
            <p:ph idx="1"/>
          </p:nvPr>
        </p:nvSpPr>
        <p:spPr>
          <a:xfrm>
            <a:off x="201336" y="543208"/>
            <a:ext cx="11929145" cy="5498155"/>
          </a:xfrm>
        </p:spPr>
        <p:txBody>
          <a:bodyPr>
            <a:noAutofit/>
          </a:bodyPr>
          <a:lstStyle/>
          <a:p>
            <a:pPr algn="just"/>
            <a:r>
              <a:rPr lang="en-IN" sz="1600" dirty="0"/>
              <a:t>Genuine and updated Operation System must be used in computers </a:t>
            </a:r>
          </a:p>
          <a:p>
            <a:pPr algn="just"/>
            <a:r>
              <a:rPr lang="en-IN" sz="1600" dirty="0" smtClean="0"/>
              <a:t>Antivirus </a:t>
            </a:r>
            <a:r>
              <a:rPr lang="en-IN" sz="1600" dirty="0"/>
              <a:t>and Antimalware program must be installed in each computer, regularly updated and Antivirus reports should be checked regularly.</a:t>
            </a:r>
          </a:p>
          <a:p>
            <a:pPr algn="just"/>
            <a:r>
              <a:rPr lang="en-US" sz="1600" dirty="0" smtClean="0"/>
              <a:t>Being </a:t>
            </a:r>
            <a:r>
              <a:rPr lang="en-US" sz="1600" dirty="0"/>
              <a:t>careful about what one open or run on their computer. One should not open email attachments or click on links in emails from senders you do not know or trust. These emails may contain malware that can infect your computer when you open them or click on the links.</a:t>
            </a:r>
            <a:endParaRPr lang="en-IN" sz="1600" dirty="0"/>
          </a:p>
          <a:p>
            <a:pPr algn="just"/>
            <a:r>
              <a:rPr lang="en-IN" sz="1600" dirty="0" smtClean="0"/>
              <a:t>Auto </a:t>
            </a:r>
            <a:r>
              <a:rPr lang="en-IN" sz="1600" dirty="0"/>
              <a:t>Run/AutoPlay features should be disabled as these may install malicious programs automatically when a flash drive is inserted. </a:t>
            </a:r>
          </a:p>
          <a:p>
            <a:pPr algn="just"/>
            <a:r>
              <a:rPr lang="en-IN" sz="1600" dirty="0" smtClean="0"/>
              <a:t>Use </a:t>
            </a:r>
            <a:r>
              <a:rPr lang="en-IN" sz="1600" dirty="0"/>
              <a:t>of USB Storage devices/Pen drives should be restricted. </a:t>
            </a:r>
          </a:p>
          <a:p>
            <a:pPr algn="just"/>
            <a:r>
              <a:rPr lang="en-IN" sz="1600" dirty="0" smtClean="0"/>
              <a:t>Potentially </a:t>
            </a:r>
            <a:r>
              <a:rPr lang="en-IN" sz="1600" dirty="0"/>
              <a:t>unwanted applications should be removed from the computers. </a:t>
            </a:r>
            <a:r>
              <a:rPr lang="en-IN" sz="1600" dirty="0" smtClean="0"/>
              <a:t>Software </a:t>
            </a:r>
            <a:r>
              <a:rPr lang="en-IN" sz="1600" dirty="0"/>
              <a:t>piracy is absolutely not permitted by the IT Security Policy of the Institute. (Reference clause no. 1 of Software licensing and usage policy)</a:t>
            </a:r>
          </a:p>
          <a:p>
            <a:pPr algn="just"/>
            <a:r>
              <a:rPr lang="en-IN" sz="1600" dirty="0" smtClean="0"/>
              <a:t>Backing </a:t>
            </a:r>
            <a:r>
              <a:rPr lang="en-IN" sz="1600" dirty="0"/>
              <a:t>up your files regularly: This is important in case your computer is infected with malware and your files are damaged or deleted. You can back up your files to another safe location.</a:t>
            </a:r>
          </a:p>
          <a:p>
            <a:pPr algn="just"/>
            <a:r>
              <a:rPr lang="en-IN" sz="1600" dirty="0" smtClean="0"/>
              <a:t> </a:t>
            </a:r>
            <a:r>
              <a:rPr lang="en-IN" sz="1600" dirty="0"/>
              <a:t>Browse only from secured and authentic websites.</a:t>
            </a:r>
          </a:p>
          <a:p>
            <a:pPr algn="just"/>
            <a:r>
              <a:rPr lang="en-IN" sz="1600" dirty="0" smtClean="0"/>
              <a:t>Use </a:t>
            </a:r>
            <a:r>
              <a:rPr lang="en-IN" sz="1600" dirty="0"/>
              <a:t>Pop-up or Ad-blocker or Pop-up blocker to block malicious advertisements appearing on the websites.</a:t>
            </a:r>
          </a:p>
          <a:p>
            <a:pPr algn="just"/>
            <a:r>
              <a:rPr lang="en-IN" sz="1600" dirty="0" smtClean="0"/>
              <a:t>One </a:t>
            </a:r>
            <a:r>
              <a:rPr lang="en-IN" sz="1600" dirty="0"/>
              <a:t>should not use any application through links received on chats or social media reports.</a:t>
            </a:r>
          </a:p>
          <a:p>
            <a:pPr algn="just"/>
            <a:r>
              <a:rPr lang="en-IN" sz="1600" dirty="0" smtClean="0"/>
              <a:t>Systems </a:t>
            </a:r>
            <a:r>
              <a:rPr lang="en-IN" sz="1600" dirty="0"/>
              <a:t>and equipment which are obsolete/unsupported/unpatched operating systems, to be removed from the network.</a:t>
            </a:r>
          </a:p>
          <a:p>
            <a:pPr algn="just"/>
            <a:r>
              <a:rPr lang="en-IN" sz="1600" dirty="0" smtClean="0"/>
              <a:t>Systems </a:t>
            </a:r>
            <a:r>
              <a:rPr lang="en-IN" sz="1600" dirty="0"/>
              <a:t>infected with the malware must be removed from the network, it must be cleaned /sanitized before connecting back to the network. </a:t>
            </a:r>
          </a:p>
          <a:p>
            <a:endParaRPr lang="en-IN" sz="16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56397" y="126119"/>
            <a:ext cx="587447" cy="552891"/>
          </a:xfrm>
          <a:prstGeom prst="rect">
            <a:avLst/>
          </a:prstGeom>
        </p:spPr>
      </p:pic>
    </p:spTree>
    <p:extLst>
      <p:ext uri="{BB962C8B-B14F-4D97-AF65-F5344CB8AC3E}">
        <p14:creationId xmlns:p14="http://schemas.microsoft.com/office/powerpoint/2010/main" val="252118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24"/>
            <a:ext cx="12191999" cy="6858124"/>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5802275" y="115432"/>
            <a:ext cx="587447" cy="552891"/>
          </a:xfrm>
          <a:prstGeom prst="rect">
            <a:avLst/>
          </a:prstGeom>
        </p:spPr>
      </p:pic>
    </p:spTree>
    <p:extLst>
      <p:ext uri="{BB962C8B-B14F-4D97-AF65-F5344CB8AC3E}">
        <p14:creationId xmlns:p14="http://schemas.microsoft.com/office/powerpoint/2010/main" val="16585664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6582" y="135802"/>
            <a:ext cx="8667420" cy="832919"/>
          </a:xfrm>
        </p:spPr>
        <p:txBody>
          <a:bodyPr/>
          <a:lstStyle/>
          <a:p>
            <a:r>
              <a:rPr lang="en-IN" dirty="0" smtClean="0"/>
              <a:t>      Phishing</a:t>
            </a:r>
            <a:endParaRPr lang="en-IN" dirty="0"/>
          </a:p>
        </p:txBody>
      </p:sp>
      <p:sp>
        <p:nvSpPr>
          <p:cNvPr id="3" name="Content Placeholder 2"/>
          <p:cNvSpPr>
            <a:spLocks noGrp="1"/>
          </p:cNvSpPr>
          <p:nvPr>
            <p:ph idx="1"/>
          </p:nvPr>
        </p:nvSpPr>
        <p:spPr>
          <a:xfrm>
            <a:off x="0" y="765110"/>
            <a:ext cx="12008498" cy="5421108"/>
          </a:xfrm>
        </p:spPr>
        <p:txBody>
          <a:bodyPr>
            <a:noAutofit/>
          </a:bodyPr>
          <a:lstStyle/>
          <a:p>
            <a:pPr algn="just"/>
            <a:r>
              <a:rPr lang="en-US" sz="2200" dirty="0"/>
              <a:t>Phishing is a form of social engineering attack to gain access to information through misrepresentation. In Phishing attack fraudsters create e-mails that look as though it is from a legitimate organization (e.g. bank, reputed institution, company etc.,) which contains link to fake web site that replicates the real one or may have malicious attachments. Most of these phishing emails are created to trick the target into divulging sensitive information and doing what the fraudster wants.  </a:t>
            </a:r>
          </a:p>
          <a:p>
            <a:pPr marL="0" indent="0" algn="just">
              <a:buNone/>
            </a:pPr>
            <a:r>
              <a:rPr lang="en-US" sz="2200" b="1" dirty="0" smtClean="0"/>
              <a:t>Phishing Links:</a:t>
            </a:r>
            <a:endParaRPr lang="en-US" sz="2200" dirty="0" smtClean="0"/>
          </a:p>
          <a:p>
            <a:pPr algn="just"/>
            <a:r>
              <a:rPr lang="en-US" sz="2200" dirty="0" smtClean="0"/>
              <a:t>Spoofed </a:t>
            </a:r>
            <a:r>
              <a:rPr lang="en-US" sz="2200" dirty="0"/>
              <a:t>links of fake sites/offers/gifts etc., shared by the fraudsters through SMS/ social media / email / Instant Messenger, etc.</a:t>
            </a:r>
          </a:p>
          <a:p>
            <a:pPr algn="just"/>
            <a:r>
              <a:rPr lang="en-US" sz="2200" dirty="0"/>
              <a:t>The links are masked through authentic looking names of websites, but in reality, the customer gets redirected to a phishing website. ( can skip this step if not necessary)</a:t>
            </a:r>
          </a:p>
          <a:p>
            <a:pPr algn="just"/>
            <a:r>
              <a:rPr lang="en-US" sz="2200" dirty="0"/>
              <a:t>Upon clicking the links the users are diverted to fake sites which ask for user credentials and personal sensitive information</a:t>
            </a:r>
          </a:p>
          <a:p>
            <a:pPr algn="just"/>
            <a:r>
              <a:rPr lang="en-US" sz="2200" dirty="0"/>
              <a:t>Once the user enters these details or sensitive personal/financial information, it is captured by fraudsters and misused for committing financial frauds.</a:t>
            </a:r>
          </a:p>
          <a:p>
            <a:pPr algn="just"/>
            <a:endParaRPr lang="en-IN" sz="20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0" y="44638"/>
            <a:ext cx="587447" cy="552891"/>
          </a:xfrm>
          <a:prstGeom prst="rect">
            <a:avLst/>
          </a:prstGeom>
        </p:spPr>
      </p:pic>
    </p:spTree>
    <p:extLst>
      <p:ext uri="{BB962C8B-B14F-4D97-AF65-F5344CB8AC3E}">
        <p14:creationId xmlns:p14="http://schemas.microsoft.com/office/powerpoint/2010/main" val="11384417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96" y="68425"/>
            <a:ext cx="8596668" cy="1320800"/>
          </a:xfrm>
        </p:spPr>
        <p:txBody>
          <a:bodyPr/>
          <a:lstStyle/>
          <a:p>
            <a:r>
              <a:rPr lang="en-IN" dirty="0" smtClean="0"/>
              <a:t>Dangers of Phishing</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14321426"/>
              </p:ext>
            </p:extLst>
          </p:nvPr>
        </p:nvGraphicFramePr>
        <p:xfrm>
          <a:off x="615819" y="1707503"/>
          <a:ext cx="9591871" cy="45906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flipH="1">
            <a:off x="92279" y="248902"/>
            <a:ext cx="587447" cy="552891"/>
          </a:xfrm>
          <a:prstGeom prst="rect">
            <a:avLst/>
          </a:prstGeom>
        </p:spPr>
      </p:pic>
    </p:spTree>
    <p:extLst>
      <p:ext uri="{BB962C8B-B14F-4D97-AF65-F5344CB8AC3E}">
        <p14:creationId xmlns:p14="http://schemas.microsoft.com/office/powerpoint/2010/main" val="36901324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452" y="63374"/>
            <a:ext cx="8552549" cy="751438"/>
          </a:xfrm>
        </p:spPr>
        <p:txBody>
          <a:bodyPr/>
          <a:lstStyle/>
          <a:p>
            <a:r>
              <a:rPr lang="en-IN" dirty="0" smtClean="0"/>
              <a:t> Precautions for Phishing</a:t>
            </a:r>
            <a:endParaRPr lang="en-IN" dirty="0"/>
          </a:p>
        </p:txBody>
      </p:sp>
      <p:sp>
        <p:nvSpPr>
          <p:cNvPr id="3" name="Content Placeholder 2"/>
          <p:cNvSpPr>
            <a:spLocks noGrp="1"/>
          </p:cNvSpPr>
          <p:nvPr>
            <p:ph idx="1"/>
          </p:nvPr>
        </p:nvSpPr>
        <p:spPr>
          <a:xfrm>
            <a:off x="429208" y="814812"/>
            <a:ext cx="11579289" cy="5911913"/>
          </a:xfrm>
        </p:spPr>
        <p:txBody>
          <a:bodyPr>
            <a:noAutofit/>
          </a:bodyPr>
          <a:lstStyle/>
          <a:p>
            <a:pPr algn="just"/>
            <a:r>
              <a:rPr lang="en-US" sz="2400" dirty="0" smtClean="0"/>
              <a:t>Don't respond to spam mails without verification of the e-mail origin.</a:t>
            </a:r>
          </a:p>
          <a:p>
            <a:pPr algn="just"/>
            <a:r>
              <a:rPr lang="en-US" sz="2400" dirty="0" smtClean="0"/>
              <a:t>Don't </a:t>
            </a:r>
            <a:r>
              <a:rPr lang="en-US" sz="2400" dirty="0"/>
              <a:t>deposit money unless the candidate is interviewed personally by the company.</a:t>
            </a:r>
          </a:p>
          <a:p>
            <a:pPr algn="just"/>
            <a:r>
              <a:rPr lang="en-US" sz="2400" dirty="0"/>
              <a:t>Don't try to get job through back door methods by paying money which promises to provide employment, which will cheat users.</a:t>
            </a:r>
          </a:p>
          <a:p>
            <a:pPr algn="just"/>
            <a:r>
              <a:rPr lang="en-US" sz="2400" dirty="0"/>
              <a:t>Check with original company website for any job offers before proceeding.</a:t>
            </a:r>
          </a:p>
          <a:p>
            <a:pPr algn="just"/>
            <a:r>
              <a:rPr lang="en-US" sz="2400" dirty="0"/>
              <a:t>Talk over phone with the company to ascertain, before depositing the money in their account, whether there is change of previous a/c details and name of the company.</a:t>
            </a:r>
          </a:p>
          <a:p>
            <a:pPr algn="just"/>
            <a:r>
              <a:rPr lang="en-US" sz="2400" dirty="0"/>
              <a:t>Maintain two step verification code to sign into account (Mobile alert).</a:t>
            </a:r>
          </a:p>
          <a:p>
            <a:pPr algn="just"/>
            <a:r>
              <a:rPr lang="en-US" sz="2400" dirty="0"/>
              <a:t>Whenever the fraud is noticed immediately inform the original company.</a:t>
            </a:r>
          </a:p>
          <a:p>
            <a:pPr algn="just"/>
            <a:r>
              <a:rPr lang="en-US" sz="2400" dirty="0"/>
              <a:t>Don’t respond to spam e-mails without verification of the e-mail origin (Header)</a:t>
            </a:r>
          </a:p>
          <a:p>
            <a:pPr algn="just"/>
            <a:endParaRPr lang="en-IN" sz="24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40356" y="126119"/>
            <a:ext cx="587447" cy="552891"/>
          </a:xfrm>
          <a:prstGeom prst="rect">
            <a:avLst/>
          </a:prstGeom>
        </p:spPr>
      </p:pic>
    </p:spTree>
    <p:extLst>
      <p:ext uri="{BB962C8B-B14F-4D97-AF65-F5344CB8AC3E}">
        <p14:creationId xmlns:p14="http://schemas.microsoft.com/office/powerpoint/2010/main" val="13043859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6954" y="1"/>
            <a:ext cx="8477048" cy="841972"/>
          </a:xfrm>
        </p:spPr>
        <p:txBody>
          <a:bodyPr>
            <a:normAutofit/>
          </a:bodyPr>
          <a:lstStyle/>
          <a:p>
            <a:r>
              <a:rPr lang="en-IN" dirty="0" smtClean="0"/>
              <a:t>Best Practices</a:t>
            </a:r>
            <a:endParaRPr lang="en-IN" dirty="0"/>
          </a:p>
        </p:txBody>
      </p:sp>
      <p:sp>
        <p:nvSpPr>
          <p:cNvPr id="3" name="Content Placeholder 2"/>
          <p:cNvSpPr>
            <a:spLocks noGrp="1"/>
          </p:cNvSpPr>
          <p:nvPr>
            <p:ph idx="1"/>
          </p:nvPr>
        </p:nvSpPr>
        <p:spPr>
          <a:xfrm>
            <a:off x="100667" y="604007"/>
            <a:ext cx="12091333" cy="5769634"/>
          </a:xfrm>
        </p:spPr>
        <p:txBody>
          <a:bodyPr>
            <a:noAutofit/>
          </a:bodyPr>
          <a:lstStyle/>
          <a:p>
            <a:r>
              <a:rPr lang="en-US" sz="2000" dirty="0"/>
              <a:t>Web browsers have free add-ons (or "plug-ins") that can help detect phishing sites. Install those plugins to protect from fake websites.</a:t>
            </a:r>
          </a:p>
          <a:p>
            <a:r>
              <a:rPr lang="en-US" sz="2000" dirty="0"/>
              <a:t>Exercise caution if a message sounds or a website looks suspicious, is out of the ordinary or unexpected, or contains an offer that is too good to be true.</a:t>
            </a:r>
          </a:p>
          <a:p>
            <a:r>
              <a:rPr lang="en-US" sz="2000" dirty="0"/>
              <a:t>Don’t use email to send personal or financial information, and delete any emails that ask to confirm or divulge personal or financial information.</a:t>
            </a:r>
          </a:p>
          <a:p>
            <a:r>
              <a:rPr lang="en-US" sz="2000" dirty="0"/>
              <a:t>Do not access account or use Credit card or Debit card from computers in public places.</a:t>
            </a:r>
          </a:p>
          <a:p>
            <a:r>
              <a:rPr lang="en-US" sz="2000" dirty="0"/>
              <a:t>Avoid giving out personal information in random websites or survey forms if do not really know the purpose of sharing.</a:t>
            </a:r>
          </a:p>
          <a:p>
            <a:r>
              <a:rPr lang="en-US" sz="2000" dirty="0"/>
              <a:t>Consider using Safe Browsing tools, filtering tools (antivirus and content-based filtering) in antivirus, firewall, and filtering services. Update spam filters with latest spam mail contents.</a:t>
            </a:r>
          </a:p>
          <a:p>
            <a:r>
              <a:rPr lang="en-US" sz="2000" dirty="0"/>
              <a:t>Always send confidential information in encrypted format using techniques such as Pretty Good Encryption (PGP) etc., wherein only sender and receiver can see the information.</a:t>
            </a:r>
          </a:p>
          <a:p>
            <a:r>
              <a:rPr lang="en-US" sz="2000" dirty="0"/>
              <a:t>Any unusual activity or attack should be reported immediately at </a:t>
            </a:r>
            <a:r>
              <a:rPr lang="en-US" sz="2000" u="sng" dirty="0" smtClean="0">
                <a:hlinkClick r:id="rId2"/>
              </a:rPr>
              <a:t>incident@certin.org.in</a:t>
            </a:r>
            <a:r>
              <a:rPr lang="en-US" sz="2000" u="sng" dirty="0" smtClean="0"/>
              <a:t> </a:t>
            </a:r>
            <a:r>
              <a:rPr lang="en-US" sz="2000" dirty="0"/>
              <a:t>w</a:t>
            </a:r>
            <a:r>
              <a:rPr lang="en-US" sz="2000" dirty="0" smtClean="0"/>
              <a:t>ith </a:t>
            </a:r>
            <a:r>
              <a:rPr lang="en-US" sz="2000" dirty="0"/>
              <a:t>the relevant logs, email headers for the analysis of the attacks and taking appropriate actions further.</a:t>
            </a:r>
          </a:p>
          <a:p>
            <a:r>
              <a:rPr lang="en-US" sz="2000" dirty="0"/>
              <a:t>To check the integrity of e-mail,  Log on to </a:t>
            </a:r>
            <a:r>
              <a:rPr lang="en-US" sz="2000" dirty="0">
                <a:hlinkClick r:id="rId3"/>
              </a:rPr>
              <a:t>http://</a:t>
            </a:r>
            <a:r>
              <a:rPr lang="en-US" sz="2000" dirty="0" smtClean="0">
                <a:hlinkClick r:id="rId3"/>
              </a:rPr>
              <a:t>www.cyberforensics.in</a:t>
            </a:r>
            <a:r>
              <a:rPr lang="en-US" sz="2000" dirty="0" smtClean="0"/>
              <a:t> and </a:t>
            </a:r>
            <a:r>
              <a:rPr lang="en-US" sz="2000" dirty="0"/>
              <a:t>click on e-mail Tracer.</a:t>
            </a:r>
          </a:p>
          <a:p>
            <a:endParaRPr lang="en-IN" sz="2000" dirty="0"/>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100667" y="117695"/>
            <a:ext cx="587447" cy="552891"/>
          </a:xfrm>
          <a:prstGeom prst="rect">
            <a:avLst/>
          </a:prstGeom>
        </p:spPr>
      </p:pic>
    </p:spTree>
    <p:extLst>
      <p:ext uri="{BB962C8B-B14F-4D97-AF65-F5344CB8AC3E}">
        <p14:creationId xmlns:p14="http://schemas.microsoft.com/office/powerpoint/2010/main" val="5379901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 y="21598"/>
            <a:ext cx="12192000" cy="6836402"/>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6023295" y="195640"/>
            <a:ext cx="587447" cy="552891"/>
          </a:xfrm>
          <a:prstGeom prst="rect">
            <a:avLst/>
          </a:prstGeom>
        </p:spPr>
      </p:pic>
    </p:spTree>
    <p:extLst>
      <p:ext uri="{BB962C8B-B14F-4D97-AF65-F5344CB8AC3E}">
        <p14:creationId xmlns:p14="http://schemas.microsoft.com/office/powerpoint/2010/main" val="34643721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24"/>
            <a:ext cx="12192000" cy="6858124"/>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89887" y="886466"/>
            <a:ext cx="587447" cy="552891"/>
          </a:xfrm>
          <a:prstGeom prst="rect">
            <a:avLst/>
          </a:prstGeom>
        </p:spPr>
      </p:pic>
    </p:spTree>
    <p:extLst>
      <p:ext uri="{BB962C8B-B14F-4D97-AF65-F5344CB8AC3E}">
        <p14:creationId xmlns:p14="http://schemas.microsoft.com/office/powerpoint/2010/main" val="9133053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620" y="44638"/>
            <a:ext cx="8527382" cy="710371"/>
          </a:xfrm>
        </p:spPr>
        <p:txBody>
          <a:bodyPr/>
          <a:lstStyle/>
          <a:p>
            <a:r>
              <a:rPr lang="en-IN" dirty="0" smtClean="0"/>
              <a:t>Social Engineering</a:t>
            </a:r>
            <a:endParaRPr lang="en-IN" dirty="0"/>
          </a:p>
        </p:txBody>
      </p:sp>
      <p:sp>
        <p:nvSpPr>
          <p:cNvPr id="3" name="Content Placeholder 2"/>
          <p:cNvSpPr>
            <a:spLocks noGrp="1"/>
          </p:cNvSpPr>
          <p:nvPr>
            <p:ph idx="1"/>
          </p:nvPr>
        </p:nvSpPr>
        <p:spPr>
          <a:xfrm>
            <a:off x="587447" y="671119"/>
            <a:ext cx="11115195" cy="5820217"/>
          </a:xfrm>
        </p:spPr>
        <p:txBody>
          <a:bodyPr>
            <a:noAutofit/>
          </a:bodyPr>
          <a:lstStyle/>
          <a:p>
            <a:pPr marL="0" indent="0" algn="just">
              <a:buNone/>
            </a:pPr>
            <a:r>
              <a:rPr lang="en-US" sz="1600" dirty="0"/>
              <a:t>Social engineering is an approach to gain access to sensitive information through misrepresentation.  It is the conscious manipulation of people to obtain information. The technique basically relies on human weakness like greed/curiosity/anxiety and other such tendencies, rather then technical </a:t>
            </a:r>
            <a:r>
              <a:rPr lang="en-US" sz="1600" dirty="0" smtClean="0"/>
              <a:t>vulnerabilities.</a:t>
            </a:r>
          </a:p>
          <a:p>
            <a:pPr marL="0" indent="0" algn="just">
              <a:buNone/>
            </a:pPr>
            <a:r>
              <a:rPr lang="en-US" sz="1600" dirty="0" smtClean="0"/>
              <a:t>Techniques:</a:t>
            </a:r>
          </a:p>
          <a:p>
            <a:pPr algn="just"/>
            <a:r>
              <a:rPr lang="en-US" sz="1600" b="1" dirty="0"/>
              <a:t>Phishing:</a:t>
            </a:r>
            <a:r>
              <a:rPr lang="en-US" sz="1600" dirty="0"/>
              <a:t> This is the practice of sending emails, text messages, or social media messages that appear to be from a legitimate source, such as a bank or government agency, but are actually designed to trick people into giving away personal or financial information.</a:t>
            </a:r>
          </a:p>
          <a:p>
            <a:pPr algn="just"/>
            <a:r>
              <a:rPr lang="en-US" sz="1600" b="1" dirty="0"/>
              <a:t>Pretexting:</a:t>
            </a:r>
            <a:r>
              <a:rPr lang="en-US" sz="1600" dirty="0"/>
              <a:t> This involves creating a false pretext or scenario to convince someone to provide sensitive information or take a specific action. For example, a fraudster might pretend to be a colleague or customer service representative and ask for personal information or login credentials.</a:t>
            </a:r>
          </a:p>
          <a:p>
            <a:pPr algn="just"/>
            <a:r>
              <a:rPr lang="en-US" sz="1600" b="1" dirty="0"/>
              <a:t>Baiting:</a:t>
            </a:r>
            <a:r>
              <a:rPr lang="en-US" sz="1600" dirty="0"/>
              <a:t> Baiting involves offering something of value, such as a free gift or discount, in exchange for personal information or a specific action. For example, a fraudster might offer a free gift card in exchange for completing a survey that asks for personal information.</a:t>
            </a:r>
          </a:p>
          <a:p>
            <a:pPr algn="just"/>
            <a:r>
              <a:rPr lang="en-US" sz="1600" b="1" dirty="0"/>
              <a:t>Spear phishing:</a:t>
            </a:r>
            <a:r>
              <a:rPr lang="en-US" sz="1600" dirty="0"/>
              <a:t> This is a targeted form of phishing that involves sending emails or messages specifically tailored to a particular individual or group. The messages often contain personal details that make them seem more credible.</a:t>
            </a:r>
          </a:p>
          <a:p>
            <a:pPr algn="just"/>
            <a:r>
              <a:rPr lang="en-US" sz="1600" b="1" dirty="0"/>
              <a:t>Impersonation:</a:t>
            </a:r>
            <a:r>
              <a:rPr lang="en-US" sz="1600" dirty="0"/>
              <a:t> This involves pretending to be someone else, such as a bank employee, police officer, or IT technician, in order to gain access to sensitive information or convince someone to take a specific action</a:t>
            </a:r>
          </a:p>
          <a:p>
            <a:pPr algn="just"/>
            <a:r>
              <a:rPr lang="en-US" sz="1600" b="1" dirty="0"/>
              <a:t>Reverse social engineering:</a:t>
            </a:r>
            <a:r>
              <a:rPr lang="en-US" sz="1600" dirty="0"/>
              <a:t> This is the practice of using information gathered from social media and other sources to build a relationship of trust with someone and then using that relationship to gain access to sensitive information or convince the person to take a specific action</a:t>
            </a:r>
          </a:p>
          <a:p>
            <a:pPr algn="just"/>
            <a:endParaRPr lang="en-IN" sz="1600" dirty="0"/>
          </a:p>
          <a:p>
            <a:pPr marL="0" indent="0" algn="just">
              <a:buNone/>
            </a:pPr>
            <a:endParaRPr lang="en-IN" sz="16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79586" y="202118"/>
            <a:ext cx="587447" cy="552891"/>
          </a:xfrm>
          <a:prstGeom prst="rect">
            <a:avLst/>
          </a:prstGeom>
        </p:spPr>
      </p:pic>
    </p:spTree>
    <p:extLst>
      <p:ext uri="{BB962C8B-B14F-4D97-AF65-F5344CB8AC3E}">
        <p14:creationId xmlns:p14="http://schemas.microsoft.com/office/powerpoint/2010/main" val="37977901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0844" y="126750"/>
            <a:ext cx="8393158" cy="706169"/>
          </a:xfrm>
        </p:spPr>
        <p:txBody>
          <a:bodyPr>
            <a:normAutofit fontScale="90000"/>
          </a:bodyPr>
          <a:lstStyle/>
          <a:p>
            <a:r>
              <a:rPr lang="en-IN" dirty="0" smtClean="0"/>
              <a:t>Social Engineering Techniques (continued)</a:t>
            </a:r>
            <a:endParaRPr lang="en-IN" dirty="0"/>
          </a:p>
        </p:txBody>
      </p:sp>
      <p:sp>
        <p:nvSpPr>
          <p:cNvPr id="3" name="Content Placeholder 2"/>
          <p:cNvSpPr>
            <a:spLocks noGrp="1"/>
          </p:cNvSpPr>
          <p:nvPr>
            <p:ph idx="1"/>
          </p:nvPr>
        </p:nvSpPr>
        <p:spPr>
          <a:xfrm>
            <a:off x="506995" y="1095469"/>
            <a:ext cx="8676472" cy="5558829"/>
          </a:xfrm>
        </p:spPr>
        <p:txBody>
          <a:bodyPr>
            <a:normAutofit fontScale="85000" lnSpcReduction="20000"/>
          </a:bodyPr>
          <a:lstStyle/>
          <a:p>
            <a:r>
              <a:rPr lang="en-US" sz="1900" b="1" dirty="0"/>
              <a:t>Public places:</a:t>
            </a:r>
            <a:r>
              <a:rPr lang="en-US" sz="1900" dirty="0"/>
              <a:t> Casual sharing of personal information by users in public places like cafes, movies, pubs etc., which is noted and </a:t>
            </a:r>
            <a:r>
              <a:rPr lang="en-US" sz="1900" dirty="0" err="1"/>
              <a:t>misutilised</a:t>
            </a:r>
            <a:r>
              <a:rPr lang="en-US" sz="1900" dirty="0"/>
              <a:t> by fraudster.</a:t>
            </a:r>
          </a:p>
          <a:p>
            <a:r>
              <a:rPr lang="en-US" sz="1900" b="1" dirty="0"/>
              <a:t>Gossips:</a:t>
            </a:r>
            <a:r>
              <a:rPr lang="en-US" sz="1900" dirty="0"/>
              <a:t> Talking about some gossip with colleague may give some information to other people who might be a social engineer.</a:t>
            </a:r>
          </a:p>
          <a:p>
            <a:r>
              <a:rPr lang="en-US" sz="1900" b="1" dirty="0"/>
              <a:t>Personal pride and confidence:</a:t>
            </a:r>
            <a:r>
              <a:rPr lang="en-US" sz="1900" dirty="0"/>
              <a:t> Sharing sensitive information of your family or organization to boast your achievements, pride, and confidence to unknown persons.</a:t>
            </a:r>
          </a:p>
          <a:p>
            <a:r>
              <a:rPr lang="en-US" sz="1900" b="1" dirty="0"/>
              <a:t>Persuasion:</a:t>
            </a:r>
            <a:r>
              <a:rPr lang="en-US" sz="1900" dirty="0"/>
              <a:t> Influencing individuals to give you confidential information by repeatedly convincing them. Ex.: a hacker posing as a company's IT team.,</a:t>
            </a:r>
          </a:p>
          <a:p>
            <a:r>
              <a:rPr lang="en-US" sz="1900" b="1" dirty="0"/>
              <a:t>Hoaxing:</a:t>
            </a:r>
            <a:r>
              <a:rPr lang="en-US" sz="1900" dirty="0"/>
              <a:t> An attempt to trap people into believing that something false as real. Aimed at a single victim it is done for illicit financial or material gain a hoax is often perpetrated as a practical joke, to cause embarrassment. Ex: false virus alerts, false tax alerts, false tech support etc.,</a:t>
            </a:r>
          </a:p>
          <a:p>
            <a:r>
              <a:rPr lang="en-US" sz="1900" b="1" dirty="0"/>
              <a:t>Vishing:</a:t>
            </a:r>
            <a:r>
              <a:rPr lang="en-US" sz="1900" dirty="0"/>
              <a:t> Using the telephone system, most often using features facilitated by Voice over IP (VoIP), to gain access to private personal and financial information from the </a:t>
            </a:r>
            <a:r>
              <a:rPr lang="en-US" sz="1900" dirty="0" smtClean="0"/>
              <a:t>people </a:t>
            </a:r>
            <a:r>
              <a:rPr lang="en-US" sz="1900" dirty="0"/>
              <a:t>for the financial gains. The term is a combination of "voice" and phishing.</a:t>
            </a:r>
          </a:p>
          <a:p>
            <a:r>
              <a:rPr lang="en-US" sz="1900" b="1" dirty="0"/>
              <a:t>Dumpster diving:</a:t>
            </a:r>
            <a:r>
              <a:rPr lang="en-US" sz="1900" dirty="0"/>
              <a:t> Collecting personal information of individuals from improperly discarded documents. Ex. Air tickets, electricity bills, discarded credit/debit/pan cards etc</a:t>
            </a:r>
            <a:r>
              <a:rPr lang="en-US" sz="1900" dirty="0" smtClean="0"/>
              <a:t>.</a:t>
            </a:r>
          </a:p>
          <a:p>
            <a:pPr marL="0" indent="0">
              <a:buNone/>
            </a:pPr>
            <a:r>
              <a:rPr lang="en-US" sz="1900" dirty="0"/>
              <a:t>Social engineering fraudsters rely on human psychology and the willingness of people to trust and help others. By using these techniques, they are able to exploit vulnerabilities and deceive people into providing sensitive information or taking actions that benefit the fraudster. It's important to be vigilant and skeptical of requests for information or actions that seem suspicious or out of the ordinary.</a:t>
            </a:r>
            <a:endParaRPr lang="en-US" sz="1900" dirty="0" smtClean="0"/>
          </a:p>
          <a:p>
            <a:endParaRPr lang="en-IN"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5835" y="280028"/>
            <a:ext cx="587447" cy="552891"/>
          </a:xfrm>
          <a:prstGeom prst="rect">
            <a:avLst/>
          </a:prstGeom>
        </p:spPr>
      </p:pic>
    </p:spTree>
    <p:extLst>
      <p:ext uri="{BB962C8B-B14F-4D97-AF65-F5344CB8AC3E}">
        <p14:creationId xmlns:p14="http://schemas.microsoft.com/office/powerpoint/2010/main" val="191897752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408" y="201336"/>
            <a:ext cx="8387594" cy="780176"/>
          </a:xfrm>
        </p:spPr>
        <p:txBody>
          <a:bodyPr/>
          <a:lstStyle/>
          <a:p>
            <a:r>
              <a:rPr lang="en-IN" dirty="0"/>
              <a:t>Social </a:t>
            </a:r>
            <a:r>
              <a:rPr lang="en-IN" dirty="0" smtClean="0"/>
              <a:t>Engineering  Techniques</a:t>
            </a:r>
            <a:endParaRPr lang="en-IN" dirty="0"/>
          </a:p>
        </p:txBody>
      </p:sp>
      <p:sp>
        <p:nvSpPr>
          <p:cNvPr id="3" name="Content Placeholder 2"/>
          <p:cNvSpPr>
            <a:spLocks noGrp="1"/>
          </p:cNvSpPr>
          <p:nvPr>
            <p:ph idx="1"/>
          </p:nvPr>
        </p:nvSpPr>
        <p:spPr>
          <a:xfrm>
            <a:off x="1300787" y="1785969"/>
            <a:ext cx="9800944" cy="4035280"/>
          </a:xfrm>
        </p:spPr>
        <p:txBody>
          <a:bodyPr/>
          <a:lstStyle/>
          <a:p>
            <a:pPr marL="0" indent="0">
              <a:buNone/>
            </a:pPr>
            <a:endParaRPr lang="en-IN" dirty="0"/>
          </a:p>
        </p:txBody>
      </p:sp>
      <p:sp>
        <p:nvSpPr>
          <p:cNvPr id="7" name="Rectangle 6"/>
          <p:cNvSpPr/>
          <p:nvPr/>
        </p:nvSpPr>
        <p:spPr>
          <a:xfrm>
            <a:off x="1332976" y="2080684"/>
            <a:ext cx="4715759" cy="7277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Pretexting</a:t>
            </a:r>
            <a:endParaRPr lang="en-IN" sz="2400" dirty="0"/>
          </a:p>
        </p:txBody>
      </p:sp>
      <p:sp>
        <p:nvSpPr>
          <p:cNvPr id="8" name="Rectangle 7"/>
          <p:cNvSpPr/>
          <p:nvPr/>
        </p:nvSpPr>
        <p:spPr>
          <a:xfrm>
            <a:off x="6036067" y="2090059"/>
            <a:ext cx="4734390" cy="709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Baiting</a:t>
            </a:r>
            <a:endParaRPr lang="en-IN" sz="2400" dirty="0"/>
          </a:p>
        </p:txBody>
      </p:sp>
      <p:sp>
        <p:nvSpPr>
          <p:cNvPr id="10" name="Rectangle 9"/>
          <p:cNvSpPr/>
          <p:nvPr/>
        </p:nvSpPr>
        <p:spPr>
          <a:xfrm>
            <a:off x="1322892" y="2808469"/>
            <a:ext cx="4757920" cy="7533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Spear phishing</a:t>
            </a:r>
            <a:endParaRPr lang="en-IN" sz="2400" dirty="0"/>
          </a:p>
        </p:txBody>
      </p:sp>
      <p:sp>
        <p:nvSpPr>
          <p:cNvPr id="11" name="Rectangle 10"/>
          <p:cNvSpPr/>
          <p:nvPr/>
        </p:nvSpPr>
        <p:spPr>
          <a:xfrm>
            <a:off x="6058495" y="2820600"/>
            <a:ext cx="4711962" cy="7414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Impersonation</a:t>
            </a:r>
            <a:endParaRPr lang="en-IN" sz="2400" dirty="0"/>
          </a:p>
        </p:txBody>
      </p:sp>
      <p:sp>
        <p:nvSpPr>
          <p:cNvPr id="13" name="Rectangle 12"/>
          <p:cNvSpPr/>
          <p:nvPr/>
        </p:nvSpPr>
        <p:spPr>
          <a:xfrm>
            <a:off x="1323218" y="3570651"/>
            <a:ext cx="4744611" cy="8309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Reverse social engineering</a:t>
            </a:r>
            <a:endParaRPr lang="en-IN" sz="2400" dirty="0"/>
          </a:p>
        </p:txBody>
      </p:sp>
      <p:sp>
        <p:nvSpPr>
          <p:cNvPr id="14" name="Rectangle 13"/>
          <p:cNvSpPr/>
          <p:nvPr/>
        </p:nvSpPr>
        <p:spPr>
          <a:xfrm>
            <a:off x="6080812" y="3529820"/>
            <a:ext cx="4725099" cy="8485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Gossips</a:t>
            </a:r>
            <a:endParaRPr lang="en-IN" sz="2400" dirty="0"/>
          </a:p>
        </p:txBody>
      </p:sp>
      <p:sp>
        <p:nvSpPr>
          <p:cNvPr id="15" name="Rectangle 14"/>
          <p:cNvSpPr/>
          <p:nvPr/>
        </p:nvSpPr>
        <p:spPr>
          <a:xfrm>
            <a:off x="1322892" y="4378380"/>
            <a:ext cx="4757748" cy="804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Personal pride and confidence</a:t>
            </a:r>
            <a:endParaRPr lang="en-IN" sz="2400" dirty="0"/>
          </a:p>
        </p:txBody>
      </p:sp>
      <p:sp>
        <p:nvSpPr>
          <p:cNvPr id="16" name="Rectangle 15"/>
          <p:cNvSpPr/>
          <p:nvPr/>
        </p:nvSpPr>
        <p:spPr>
          <a:xfrm>
            <a:off x="6080812" y="4378379"/>
            <a:ext cx="4702632" cy="7837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Hoaxing</a:t>
            </a:r>
            <a:endParaRPr lang="en-IN" sz="2400" dirty="0"/>
          </a:p>
        </p:txBody>
      </p:sp>
      <p:sp>
        <p:nvSpPr>
          <p:cNvPr id="19" name="Rectangle 18"/>
          <p:cNvSpPr/>
          <p:nvPr/>
        </p:nvSpPr>
        <p:spPr>
          <a:xfrm>
            <a:off x="285226" y="5184852"/>
            <a:ext cx="3833768" cy="9414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Vishing</a:t>
            </a:r>
            <a:endParaRPr lang="en-IN" sz="2400" dirty="0"/>
          </a:p>
        </p:txBody>
      </p:sp>
      <p:sp>
        <p:nvSpPr>
          <p:cNvPr id="20" name="Rectangle 19"/>
          <p:cNvSpPr/>
          <p:nvPr/>
        </p:nvSpPr>
        <p:spPr>
          <a:xfrm>
            <a:off x="4116042" y="5173501"/>
            <a:ext cx="3786387" cy="9518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Dumpster diving</a:t>
            </a:r>
            <a:endParaRPr lang="en-IN" sz="2400" dirty="0"/>
          </a:p>
        </p:txBody>
      </p:sp>
      <p:sp>
        <p:nvSpPr>
          <p:cNvPr id="4" name="Rectangle 3"/>
          <p:cNvSpPr/>
          <p:nvPr/>
        </p:nvSpPr>
        <p:spPr>
          <a:xfrm>
            <a:off x="1322893" y="1324334"/>
            <a:ext cx="4757920" cy="7656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Phishing</a:t>
            </a:r>
            <a:endParaRPr lang="en-IN" sz="2400" dirty="0"/>
          </a:p>
        </p:txBody>
      </p:sp>
      <p:sp>
        <p:nvSpPr>
          <p:cNvPr id="5" name="Rectangle 4"/>
          <p:cNvSpPr/>
          <p:nvPr/>
        </p:nvSpPr>
        <p:spPr>
          <a:xfrm>
            <a:off x="6058495" y="1345745"/>
            <a:ext cx="4711963" cy="7656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Gossips</a:t>
            </a:r>
            <a:endParaRPr lang="en-IN" sz="2400" dirty="0"/>
          </a:p>
        </p:txBody>
      </p:sp>
      <p:sp>
        <p:nvSpPr>
          <p:cNvPr id="6" name="Rectangle 5"/>
          <p:cNvSpPr/>
          <p:nvPr/>
        </p:nvSpPr>
        <p:spPr>
          <a:xfrm>
            <a:off x="7902429" y="5162151"/>
            <a:ext cx="3624044" cy="963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Persuasion</a:t>
            </a:r>
            <a:endParaRPr lang="en-IN" sz="2400" dirty="0"/>
          </a:p>
        </p:txBody>
      </p:sp>
      <p:pic>
        <p:nvPicPr>
          <p:cNvPr id="17" name="Picture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2279" y="248902"/>
            <a:ext cx="587447" cy="552891"/>
          </a:xfrm>
          <a:prstGeom prst="rect">
            <a:avLst/>
          </a:prstGeom>
        </p:spPr>
      </p:pic>
    </p:spTree>
    <p:extLst>
      <p:ext uri="{BB962C8B-B14F-4D97-AF65-F5344CB8AC3E}">
        <p14:creationId xmlns:p14="http://schemas.microsoft.com/office/powerpoint/2010/main" val="16834329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455" y="126750"/>
            <a:ext cx="8401546" cy="561313"/>
          </a:xfrm>
        </p:spPr>
        <p:txBody>
          <a:bodyPr>
            <a:normAutofit fontScale="90000"/>
          </a:bodyPr>
          <a:lstStyle/>
          <a:p>
            <a:r>
              <a:rPr lang="en-IN" dirty="0" smtClean="0"/>
              <a:t>Common Social Engineering frauds</a:t>
            </a:r>
            <a:endParaRPr lang="en-IN" dirty="0"/>
          </a:p>
        </p:txBody>
      </p:sp>
      <p:sp>
        <p:nvSpPr>
          <p:cNvPr id="3" name="Content Placeholder 2"/>
          <p:cNvSpPr>
            <a:spLocks noGrp="1"/>
          </p:cNvSpPr>
          <p:nvPr>
            <p:ph idx="1"/>
          </p:nvPr>
        </p:nvSpPr>
        <p:spPr>
          <a:xfrm>
            <a:off x="109156" y="688064"/>
            <a:ext cx="12082843" cy="5776110"/>
          </a:xfrm>
        </p:spPr>
        <p:txBody>
          <a:bodyPr>
            <a:noAutofit/>
          </a:bodyPr>
          <a:lstStyle/>
          <a:p>
            <a:pPr algn="just"/>
            <a:r>
              <a:rPr lang="en-US" sz="1600" b="1" dirty="0" smtClean="0"/>
              <a:t>Spear </a:t>
            </a:r>
            <a:r>
              <a:rPr lang="en-US" sz="1600" b="1" dirty="0"/>
              <a:t>Phishing Emails</a:t>
            </a:r>
            <a:r>
              <a:rPr lang="en-US" sz="1600" dirty="0"/>
              <a:t>: Scammers send emails that appear to come from trusted government agencies or colleagues, requesting urgent actions like updating login credentials or reviewing documents.</a:t>
            </a:r>
          </a:p>
          <a:p>
            <a:pPr marL="0" indent="0" algn="just">
              <a:buNone/>
            </a:pPr>
            <a:r>
              <a:rPr lang="en-US" sz="1600" b="1" dirty="0"/>
              <a:t>Tactics</a:t>
            </a:r>
            <a:r>
              <a:rPr lang="en-US" sz="1600" dirty="0"/>
              <a:t>: Government employees are tricked into clicking on malicious links or attachments, leading to the compromise of sensitive information or unauthorized access to government systems.</a:t>
            </a:r>
          </a:p>
          <a:p>
            <a:pPr algn="just"/>
            <a:r>
              <a:rPr lang="en-US" sz="1600" b="1" dirty="0"/>
              <a:t>Impersonation of Senior Officials</a:t>
            </a:r>
            <a:r>
              <a:rPr lang="en-US" sz="1600" dirty="0"/>
              <a:t>: Scammers impersonate senior government officials, instructing employees to transfer funds, share confidential data, or provide system access under the guise of an urgent government project.</a:t>
            </a:r>
          </a:p>
          <a:p>
            <a:pPr marL="0" indent="0" algn="just">
              <a:buNone/>
            </a:pPr>
            <a:r>
              <a:rPr lang="en-US" sz="1600" b="1" dirty="0"/>
              <a:t>Tactics</a:t>
            </a:r>
            <a:r>
              <a:rPr lang="en-US" sz="1600" dirty="0"/>
              <a:t>: Employees, feeling pressured by the authority of the supposed senior official, comply with requests without proper verification, resulting in unauthorized data exposure or financial loss.</a:t>
            </a:r>
          </a:p>
          <a:p>
            <a:pPr algn="just"/>
            <a:r>
              <a:rPr lang="en-US" sz="1600" b="1" dirty="0"/>
              <a:t>Watering Hole Attacks</a:t>
            </a:r>
            <a:r>
              <a:rPr lang="en-US" sz="1600" dirty="0"/>
              <a:t>: Scammers target websites frequently visited by government employees, compromising these sites with malware.</a:t>
            </a:r>
          </a:p>
          <a:p>
            <a:pPr marL="0" indent="0" algn="just">
              <a:buNone/>
            </a:pPr>
            <a:r>
              <a:rPr lang="en-US" sz="1600" b="1" dirty="0"/>
              <a:t>Tactics</a:t>
            </a:r>
            <a:r>
              <a:rPr lang="en-US" sz="1600" dirty="0"/>
              <a:t>: When employees visit these infected websites, malware is silently installed on their devices, granting attackers access to sensitive government networks or systems.</a:t>
            </a:r>
          </a:p>
          <a:p>
            <a:pPr algn="just"/>
            <a:r>
              <a:rPr lang="en-US" sz="1600" b="1" dirty="0"/>
              <a:t>Fake Training Programs or Surveys</a:t>
            </a:r>
            <a:r>
              <a:rPr lang="en-US" sz="1600" dirty="0"/>
              <a:t>: Scammers create fake professional development programs, workshops, or surveys tailored to government employees, often advertised through emails or social </a:t>
            </a:r>
            <a:r>
              <a:rPr lang="en-US" sz="1600" dirty="0" smtClean="0"/>
              <a:t>media.</a:t>
            </a:r>
          </a:p>
          <a:p>
            <a:pPr marL="0" indent="0" algn="just">
              <a:buNone/>
            </a:pPr>
            <a:r>
              <a:rPr lang="en-US" sz="1600" b="1" dirty="0" smtClean="0"/>
              <a:t>Tactics</a:t>
            </a:r>
            <a:r>
              <a:rPr lang="en-US" sz="1600" dirty="0"/>
              <a:t>: Employees are asked to register using their work credentials or provide personal information, which is then used to compromise their accounts or steal data.</a:t>
            </a:r>
          </a:p>
          <a:p>
            <a:pPr algn="just"/>
            <a:r>
              <a:rPr lang="en-US" sz="1600" b="1" dirty="0"/>
              <a:t>Pretexting for Access to Classified Information</a:t>
            </a:r>
            <a:r>
              <a:rPr lang="en-US" sz="1600" dirty="0"/>
              <a:t>: Scammers pose as legitimate authorities or external contractors, requesting government employees to share classified information under false pretenses, such as conducting an audit or investigation.</a:t>
            </a:r>
          </a:p>
          <a:p>
            <a:pPr marL="0" indent="0" algn="just">
              <a:buNone/>
            </a:pPr>
            <a:r>
              <a:rPr lang="en-US" sz="1600" b="1" dirty="0"/>
              <a:t>Tactics</a:t>
            </a:r>
            <a:r>
              <a:rPr lang="en-US" sz="1600" dirty="0"/>
              <a:t>: Employees, believing the request is legitimate, provide access to sensitive government data, compromising national security or internal operations.</a:t>
            </a:r>
          </a:p>
          <a:p>
            <a:pPr marL="0" indent="0" algn="just">
              <a:buNone/>
            </a:pPr>
            <a:r>
              <a:rPr lang="en-US" sz="1600" dirty="0"/>
              <a:t/>
            </a:r>
            <a:br>
              <a:rPr lang="en-US" sz="1600" dirty="0"/>
            </a:br>
            <a:endParaRPr lang="en-IN" sz="1600" dirty="0"/>
          </a:p>
          <a:p>
            <a:pPr algn="just"/>
            <a:endParaRPr lang="en-IN" sz="16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09156" y="126749"/>
            <a:ext cx="587447" cy="552891"/>
          </a:xfrm>
          <a:prstGeom prst="rect">
            <a:avLst/>
          </a:prstGeom>
        </p:spPr>
      </p:pic>
    </p:spTree>
    <p:extLst>
      <p:ext uri="{BB962C8B-B14F-4D97-AF65-F5344CB8AC3E}">
        <p14:creationId xmlns:p14="http://schemas.microsoft.com/office/powerpoint/2010/main" val="306251579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Common Social Engineering frauds</a:t>
            </a:r>
          </a:p>
        </p:txBody>
      </p:sp>
      <p:sp>
        <p:nvSpPr>
          <p:cNvPr id="3" name="Content Placeholder 2"/>
          <p:cNvSpPr>
            <a:spLocks noGrp="1"/>
          </p:cNvSpPr>
          <p:nvPr>
            <p:ph idx="1"/>
          </p:nvPr>
        </p:nvSpPr>
        <p:spPr>
          <a:xfrm>
            <a:off x="677334" y="1816593"/>
            <a:ext cx="9506901" cy="4449984"/>
          </a:xfrm>
        </p:spPr>
        <p:txBody>
          <a:bodyPr/>
          <a:lstStyle/>
          <a:p>
            <a:pPr marL="0" indent="0">
              <a:buNone/>
            </a:pPr>
            <a:endParaRPr lang="en-IN" dirty="0"/>
          </a:p>
        </p:txBody>
      </p:sp>
      <p:sp>
        <p:nvSpPr>
          <p:cNvPr id="4" name="Oval 3"/>
          <p:cNvSpPr/>
          <p:nvPr/>
        </p:nvSpPr>
        <p:spPr>
          <a:xfrm>
            <a:off x="4364445" y="3137392"/>
            <a:ext cx="3110144" cy="1610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Common </a:t>
            </a:r>
            <a:r>
              <a:rPr lang="en-IN" sz="2400" dirty="0" smtClean="0"/>
              <a:t>frauds</a:t>
            </a:r>
            <a:endParaRPr lang="en-IN" sz="2400" dirty="0"/>
          </a:p>
        </p:txBody>
      </p:sp>
      <p:sp>
        <p:nvSpPr>
          <p:cNvPr id="5" name="Flowchart: Data 4"/>
          <p:cNvSpPr/>
          <p:nvPr/>
        </p:nvSpPr>
        <p:spPr>
          <a:xfrm>
            <a:off x="677334" y="3686375"/>
            <a:ext cx="3760441" cy="1301065"/>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Impersonation of Senior Officials</a:t>
            </a:r>
            <a:endParaRPr lang="en-IN" sz="2400" dirty="0"/>
          </a:p>
        </p:txBody>
      </p:sp>
      <p:sp>
        <p:nvSpPr>
          <p:cNvPr id="6" name="Trapezoid 5"/>
          <p:cNvSpPr/>
          <p:nvPr/>
        </p:nvSpPr>
        <p:spPr>
          <a:xfrm>
            <a:off x="4169328" y="4748169"/>
            <a:ext cx="3112316" cy="1398801"/>
          </a:xfrm>
          <a:prstGeom prst="trapezoid">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Pretexting for Access to Classified Information</a:t>
            </a:r>
            <a:endParaRPr lang="en-IN" sz="2400" dirty="0"/>
          </a:p>
        </p:txBody>
      </p:sp>
      <p:sp>
        <p:nvSpPr>
          <p:cNvPr id="7" name="Snip and Round Single Corner Rectangle 6"/>
          <p:cNvSpPr/>
          <p:nvPr/>
        </p:nvSpPr>
        <p:spPr>
          <a:xfrm>
            <a:off x="2565033" y="2237953"/>
            <a:ext cx="2227304" cy="1136552"/>
          </a:xfrm>
          <a:prstGeom prst="snip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Spear Phishing Emails</a:t>
            </a:r>
            <a:endParaRPr lang="en-IN" sz="2400" dirty="0"/>
          </a:p>
        </p:txBody>
      </p:sp>
      <p:sp>
        <p:nvSpPr>
          <p:cNvPr id="8" name="Trapezoid 7"/>
          <p:cNvSpPr/>
          <p:nvPr/>
        </p:nvSpPr>
        <p:spPr>
          <a:xfrm>
            <a:off x="6619140" y="2023906"/>
            <a:ext cx="2325745" cy="1206992"/>
          </a:xfrm>
          <a:prstGeom prst="trapezoid">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Watering Hole Attacks</a:t>
            </a:r>
            <a:endParaRPr lang="en-IN" sz="2400" dirty="0"/>
          </a:p>
        </p:txBody>
      </p:sp>
      <p:sp>
        <p:nvSpPr>
          <p:cNvPr id="11" name="Flowchart: Delay 10"/>
          <p:cNvSpPr/>
          <p:nvPr/>
        </p:nvSpPr>
        <p:spPr>
          <a:xfrm>
            <a:off x="7474590" y="3542314"/>
            <a:ext cx="2537639" cy="1507858"/>
          </a:xfrm>
          <a:prstGeom prst="flowChartDe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Fake Training Programs or Surveys</a:t>
            </a:r>
            <a:endParaRPr lang="en-IN" sz="2400" dirty="0"/>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2279" y="248902"/>
            <a:ext cx="587447" cy="552891"/>
          </a:xfrm>
          <a:prstGeom prst="rect">
            <a:avLst/>
          </a:prstGeom>
        </p:spPr>
      </p:pic>
    </p:spTree>
    <p:extLst>
      <p:ext uri="{BB962C8B-B14F-4D97-AF65-F5344CB8AC3E}">
        <p14:creationId xmlns:p14="http://schemas.microsoft.com/office/powerpoint/2010/main" val="25769141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384" y="226338"/>
            <a:ext cx="8531618" cy="669955"/>
          </a:xfrm>
        </p:spPr>
        <p:txBody>
          <a:bodyPr/>
          <a:lstStyle/>
          <a:p>
            <a:r>
              <a:rPr lang="en-IN" dirty="0" smtClean="0"/>
              <a:t>Threats of Social Engineering</a:t>
            </a:r>
            <a:endParaRPr lang="en-IN" dirty="0"/>
          </a:p>
        </p:txBody>
      </p:sp>
      <p:sp>
        <p:nvSpPr>
          <p:cNvPr id="3" name="Content Placeholder 2"/>
          <p:cNvSpPr>
            <a:spLocks noGrp="1"/>
          </p:cNvSpPr>
          <p:nvPr>
            <p:ph idx="1"/>
          </p:nvPr>
        </p:nvSpPr>
        <p:spPr>
          <a:xfrm>
            <a:off x="513566" y="1102290"/>
            <a:ext cx="11415579" cy="5323562"/>
          </a:xfrm>
        </p:spPr>
        <p:txBody>
          <a:bodyPr>
            <a:noAutofit/>
          </a:bodyPr>
          <a:lstStyle/>
          <a:p>
            <a:pPr algn="just"/>
            <a:r>
              <a:rPr lang="en-US" sz="2200" b="1" dirty="0"/>
              <a:t>Data theft:</a:t>
            </a:r>
            <a:r>
              <a:rPr lang="en-US" sz="2200" dirty="0"/>
              <a:t> Social engineering attacks can be used to steal sensitive data, such as login credentials, financial information, or personal data, which can be used for identity theft or other malicious purposes.</a:t>
            </a:r>
          </a:p>
          <a:p>
            <a:pPr algn="just"/>
            <a:r>
              <a:rPr lang="en-US" sz="2200" b="1" dirty="0" smtClean="0"/>
              <a:t>Malware </a:t>
            </a:r>
            <a:r>
              <a:rPr lang="en-US" sz="2200" b="1" dirty="0"/>
              <a:t>delivery:</a:t>
            </a:r>
            <a:r>
              <a:rPr lang="en-US" sz="2200" dirty="0"/>
              <a:t> Social engineering attacks can be used to deliver malware, such as viruses or ransomware, which can cause damage to systems and data.</a:t>
            </a:r>
          </a:p>
          <a:p>
            <a:pPr algn="just"/>
            <a:r>
              <a:rPr lang="en-US" sz="2200" b="1" dirty="0" smtClean="0"/>
              <a:t>Business </a:t>
            </a:r>
            <a:r>
              <a:rPr lang="en-US" sz="2200" b="1" dirty="0"/>
              <a:t>email compromise:</a:t>
            </a:r>
            <a:r>
              <a:rPr lang="en-US" sz="2200" dirty="0"/>
              <a:t> Social engineering attacks can be used to impersonate company executives or other trusted figures, tricking employees into divulging sensitive information or transferring funds to fraudulent accounts.</a:t>
            </a:r>
          </a:p>
          <a:p>
            <a:pPr algn="just"/>
            <a:r>
              <a:rPr lang="en-US" sz="2200" b="1" dirty="0" smtClean="0"/>
              <a:t>Physical </a:t>
            </a:r>
            <a:r>
              <a:rPr lang="en-US" sz="2200" b="1" dirty="0"/>
              <a:t>security breaches:</a:t>
            </a:r>
            <a:r>
              <a:rPr lang="en-US" sz="2200" dirty="0"/>
              <a:t> Social engineering attacks can be used to gain access to restricted areas or systems by impersonating an employee or other trusted figure.</a:t>
            </a:r>
          </a:p>
          <a:p>
            <a:pPr algn="just"/>
            <a:r>
              <a:rPr lang="en-US" sz="2200" b="1" dirty="0" smtClean="0"/>
              <a:t>Reputation </a:t>
            </a:r>
            <a:r>
              <a:rPr lang="en-US" sz="2200" b="1" dirty="0"/>
              <a:t>damage:</a:t>
            </a:r>
            <a:r>
              <a:rPr lang="en-US" sz="2200" dirty="0"/>
              <a:t> Social engineering attacks can damage an individual or organization's reputation by exposing sensitive data or engaging in fraudulent activities using their name</a:t>
            </a:r>
            <a:r>
              <a:rPr lang="en-US" sz="2200" dirty="0" smtClean="0"/>
              <a:t>.</a:t>
            </a:r>
          </a:p>
          <a:p>
            <a:pPr algn="just"/>
            <a:endParaRPr lang="en-US" sz="2200" dirty="0" smtClean="0"/>
          </a:p>
          <a:p>
            <a:pPr algn="just"/>
            <a:endParaRPr lang="en-IN" sz="22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54937" y="226338"/>
            <a:ext cx="587447" cy="552891"/>
          </a:xfrm>
          <a:prstGeom prst="rect">
            <a:avLst/>
          </a:prstGeom>
        </p:spPr>
      </p:pic>
    </p:spTree>
    <p:extLst>
      <p:ext uri="{BB962C8B-B14F-4D97-AF65-F5344CB8AC3E}">
        <p14:creationId xmlns:p14="http://schemas.microsoft.com/office/powerpoint/2010/main" val="32811435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Threats of Social Engineering</a:t>
            </a:r>
          </a:p>
        </p:txBody>
      </p:sp>
      <p:sp>
        <p:nvSpPr>
          <p:cNvPr id="3" name="Content Placeholder 2"/>
          <p:cNvSpPr>
            <a:spLocks noGrp="1"/>
          </p:cNvSpPr>
          <p:nvPr>
            <p:ph idx="1"/>
          </p:nvPr>
        </p:nvSpPr>
        <p:spPr>
          <a:xfrm>
            <a:off x="677334" y="1816593"/>
            <a:ext cx="9506901" cy="4449984"/>
          </a:xfrm>
        </p:spPr>
        <p:txBody>
          <a:bodyPr/>
          <a:lstStyle/>
          <a:p>
            <a:pPr marL="0" indent="0">
              <a:buNone/>
            </a:pPr>
            <a:endParaRPr lang="en-IN" dirty="0"/>
          </a:p>
        </p:txBody>
      </p:sp>
      <p:sp>
        <p:nvSpPr>
          <p:cNvPr id="4" name="Oval 3"/>
          <p:cNvSpPr/>
          <p:nvPr/>
        </p:nvSpPr>
        <p:spPr>
          <a:xfrm>
            <a:off x="4364445" y="3137392"/>
            <a:ext cx="3110144" cy="1610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Threats</a:t>
            </a:r>
            <a:endParaRPr lang="en-IN" sz="2400" dirty="0"/>
          </a:p>
        </p:txBody>
      </p:sp>
      <p:sp>
        <p:nvSpPr>
          <p:cNvPr id="5" name="Flowchart: Data 4"/>
          <p:cNvSpPr/>
          <p:nvPr/>
        </p:nvSpPr>
        <p:spPr>
          <a:xfrm>
            <a:off x="1266738" y="3598105"/>
            <a:ext cx="3196206" cy="1301065"/>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Business email compromise</a:t>
            </a:r>
            <a:endParaRPr lang="en-IN" sz="2400" dirty="0"/>
          </a:p>
        </p:txBody>
      </p:sp>
      <p:sp>
        <p:nvSpPr>
          <p:cNvPr id="6" name="Trapezoid 5"/>
          <p:cNvSpPr/>
          <p:nvPr/>
        </p:nvSpPr>
        <p:spPr>
          <a:xfrm>
            <a:off x="4169328" y="4748169"/>
            <a:ext cx="3112316" cy="1398801"/>
          </a:xfrm>
          <a:prstGeom prst="trapezoid">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Physical security breaches</a:t>
            </a:r>
            <a:endParaRPr lang="en-IN" sz="2400" dirty="0"/>
          </a:p>
        </p:txBody>
      </p:sp>
      <p:sp>
        <p:nvSpPr>
          <p:cNvPr id="7" name="Snip and Round Single Corner Rectangle 6"/>
          <p:cNvSpPr/>
          <p:nvPr/>
        </p:nvSpPr>
        <p:spPr>
          <a:xfrm>
            <a:off x="2565033" y="2237953"/>
            <a:ext cx="2227304" cy="1136552"/>
          </a:xfrm>
          <a:prstGeom prst="snip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theft</a:t>
            </a:r>
            <a:endParaRPr lang="en-IN" sz="2400" dirty="0"/>
          </a:p>
        </p:txBody>
      </p:sp>
      <p:sp>
        <p:nvSpPr>
          <p:cNvPr id="8" name="Trapezoid 7"/>
          <p:cNvSpPr/>
          <p:nvPr/>
        </p:nvSpPr>
        <p:spPr>
          <a:xfrm>
            <a:off x="6503666" y="2002999"/>
            <a:ext cx="2325745" cy="1206992"/>
          </a:xfrm>
          <a:prstGeom prst="trapezoid">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Malware delivery</a:t>
            </a:r>
            <a:endParaRPr lang="en-IN" sz="2400" dirty="0"/>
          </a:p>
        </p:txBody>
      </p:sp>
      <p:sp>
        <p:nvSpPr>
          <p:cNvPr id="11" name="Flowchart: Delay 10"/>
          <p:cNvSpPr/>
          <p:nvPr/>
        </p:nvSpPr>
        <p:spPr>
          <a:xfrm>
            <a:off x="7474590" y="3542314"/>
            <a:ext cx="2537639" cy="1507858"/>
          </a:xfrm>
          <a:prstGeom prst="flowChartDe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Reputation damage</a:t>
            </a:r>
            <a:endParaRPr lang="en-IN" sz="2400"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2279" y="248902"/>
            <a:ext cx="587447" cy="552891"/>
          </a:xfrm>
          <a:prstGeom prst="rect">
            <a:avLst/>
          </a:prstGeom>
        </p:spPr>
      </p:pic>
    </p:spTree>
    <p:extLst>
      <p:ext uri="{BB962C8B-B14F-4D97-AF65-F5344CB8AC3E}">
        <p14:creationId xmlns:p14="http://schemas.microsoft.com/office/powerpoint/2010/main" val="37393426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796" y="307818"/>
            <a:ext cx="8631206" cy="932507"/>
          </a:xfrm>
        </p:spPr>
        <p:txBody>
          <a:bodyPr/>
          <a:lstStyle/>
          <a:p>
            <a:r>
              <a:rPr lang="en-IN" dirty="0" smtClean="0"/>
              <a:t>Dangers of Social Engineering</a:t>
            </a:r>
            <a:endParaRPr lang="en-IN" dirty="0"/>
          </a:p>
        </p:txBody>
      </p:sp>
      <p:sp>
        <p:nvSpPr>
          <p:cNvPr id="3" name="Content Placeholder 2"/>
          <p:cNvSpPr>
            <a:spLocks noGrp="1"/>
          </p:cNvSpPr>
          <p:nvPr>
            <p:ph idx="1"/>
          </p:nvPr>
        </p:nvSpPr>
        <p:spPr>
          <a:xfrm>
            <a:off x="419450" y="1115736"/>
            <a:ext cx="11014744" cy="4925627"/>
          </a:xfrm>
        </p:spPr>
        <p:txBody>
          <a:bodyPr>
            <a:noAutofit/>
          </a:bodyPr>
          <a:lstStyle/>
          <a:p>
            <a:pPr marL="0" indent="0" algn="just">
              <a:buNone/>
            </a:pPr>
            <a:r>
              <a:rPr lang="en-US" sz="2200" dirty="0"/>
              <a:t>The individuals critical financial or personal information like OTPs, Credit/Debit card details, bank details, passwords, login ids etc., are captured by the fraudster and is misused causing -</a:t>
            </a:r>
          </a:p>
          <a:p>
            <a:pPr algn="just"/>
            <a:r>
              <a:rPr lang="en-US" sz="2200" dirty="0"/>
              <a:t>Financial loss</a:t>
            </a:r>
          </a:p>
          <a:p>
            <a:pPr algn="just"/>
            <a:r>
              <a:rPr lang="en-US" sz="2200" dirty="0"/>
              <a:t>Malware attacks</a:t>
            </a:r>
          </a:p>
          <a:p>
            <a:pPr algn="just"/>
            <a:r>
              <a:rPr lang="en-US" sz="2200" dirty="0"/>
              <a:t>Data theft</a:t>
            </a:r>
          </a:p>
          <a:p>
            <a:pPr algn="just"/>
            <a:r>
              <a:rPr lang="en-US" sz="2200" dirty="0"/>
              <a:t>Account hacking</a:t>
            </a:r>
          </a:p>
          <a:p>
            <a:pPr algn="just"/>
            <a:r>
              <a:rPr lang="en-US" sz="2200" dirty="0"/>
              <a:t>Black mailing</a:t>
            </a:r>
          </a:p>
          <a:p>
            <a:pPr algn="just"/>
            <a:r>
              <a:rPr lang="en-US" sz="2200" dirty="0"/>
              <a:t>Online harassment</a:t>
            </a:r>
          </a:p>
          <a:p>
            <a:pPr algn="just"/>
            <a:r>
              <a:rPr lang="en-US" sz="2200" dirty="0"/>
              <a:t>Misrepresentation</a:t>
            </a:r>
          </a:p>
          <a:p>
            <a:pPr algn="just"/>
            <a:r>
              <a:rPr lang="en-US" sz="2200" dirty="0"/>
              <a:t>Fake profile creating</a:t>
            </a:r>
          </a:p>
          <a:p>
            <a:pPr algn="just"/>
            <a:r>
              <a:rPr lang="en-US" sz="2200" dirty="0"/>
              <a:t>unauthorized access to systems network intrusion</a:t>
            </a:r>
          </a:p>
          <a:p>
            <a:pPr algn="just"/>
            <a:endParaRPr lang="en-IN" sz="22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55349" y="193438"/>
            <a:ext cx="587447" cy="552891"/>
          </a:xfrm>
          <a:prstGeom prst="rect">
            <a:avLst/>
          </a:prstGeom>
        </p:spPr>
      </p:pic>
    </p:spTree>
    <p:extLst>
      <p:ext uri="{BB962C8B-B14F-4D97-AF65-F5344CB8AC3E}">
        <p14:creationId xmlns:p14="http://schemas.microsoft.com/office/powerpoint/2010/main" val="18473745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617" y="0"/>
            <a:ext cx="8829385" cy="1930400"/>
          </a:xfrm>
        </p:spPr>
        <p:txBody>
          <a:bodyPr/>
          <a:lstStyle/>
          <a:p>
            <a:r>
              <a:rPr lang="en-IN" dirty="0" smtClean="0"/>
              <a:t>       </a:t>
            </a:r>
            <a:r>
              <a:rPr lang="en-IN" dirty="0"/>
              <a:t>Dangers of Social Engineering</a:t>
            </a:r>
          </a:p>
        </p:txBody>
      </p:sp>
      <p:sp>
        <p:nvSpPr>
          <p:cNvPr id="3" name="Content Placeholder 2"/>
          <p:cNvSpPr>
            <a:spLocks noGrp="1"/>
          </p:cNvSpPr>
          <p:nvPr>
            <p:ph idx="1"/>
          </p:nvPr>
        </p:nvSpPr>
        <p:spPr>
          <a:xfrm>
            <a:off x="814951" y="2022988"/>
            <a:ext cx="9800944" cy="4035280"/>
          </a:xfrm>
        </p:spPr>
        <p:txBody>
          <a:bodyPr/>
          <a:lstStyle/>
          <a:p>
            <a:pPr marL="0" indent="0">
              <a:buNone/>
            </a:pPr>
            <a:endParaRPr lang="en-IN" dirty="0"/>
          </a:p>
        </p:txBody>
      </p:sp>
      <p:sp>
        <p:nvSpPr>
          <p:cNvPr id="7" name="Rectangle 6"/>
          <p:cNvSpPr/>
          <p:nvPr/>
        </p:nvSpPr>
        <p:spPr>
          <a:xfrm>
            <a:off x="698328" y="1584115"/>
            <a:ext cx="5067990" cy="785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Financial loss</a:t>
            </a:r>
          </a:p>
          <a:p>
            <a:pPr algn="ctr"/>
            <a:endParaRPr lang="en-IN" sz="2400" dirty="0"/>
          </a:p>
        </p:txBody>
      </p:sp>
      <p:sp>
        <p:nvSpPr>
          <p:cNvPr id="8" name="Rectangle 7"/>
          <p:cNvSpPr/>
          <p:nvPr/>
        </p:nvSpPr>
        <p:spPr>
          <a:xfrm>
            <a:off x="5766318" y="1584116"/>
            <a:ext cx="4887700" cy="785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Malware attacks</a:t>
            </a:r>
          </a:p>
          <a:p>
            <a:pPr algn="ctr"/>
            <a:endParaRPr lang="en-IN" sz="2400" dirty="0"/>
          </a:p>
        </p:txBody>
      </p:sp>
      <p:sp>
        <p:nvSpPr>
          <p:cNvPr id="10" name="Rectangle 9"/>
          <p:cNvSpPr/>
          <p:nvPr/>
        </p:nvSpPr>
        <p:spPr>
          <a:xfrm>
            <a:off x="704897" y="2369272"/>
            <a:ext cx="5043381" cy="818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smtClean="0"/>
              <a:t>                   Data </a:t>
            </a:r>
            <a:r>
              <a:rPr lang="en-US" sz="2400" dirty="0"/>
              <a:t>theft</a:t>
            </a:r>
          </a:p>
        </p:txBody>
      </p:sp>
      <p:sp>
        <p:nvSpPr>
          <p:cNvPr id="11" name="Rectangle 10"/>
          <p:cNvSpPr/>
          <p:nvPr/>
        </p:nvSpPr>
        <p:spPr>
          <a:xfrm>
            <a:off x="5754848" y="2369272"/>
            <a:ext cx="4899170" cy="818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smtClean="0"/>
              <a:t>              Account </a:t>
            </a:r>
            <a:r>
              <a:rPr lang="en-US" sz="2400" dirty="0"/>
              <a:t>hacking</a:t>
            </a:r>
          </a:p>
        </p:txBody>
      </p:sp>
      <p:sp>
        <p:nvSpPr>
          <p:cNvPr id="13" name="Rectangle 12"/>
          <p:cNvSpPr/>
          <p:nvPr/>
        </p:nvSpPr>
        <p:spPr>
          <a:xfrm>
            <a:off x="722937" y="3187817"/>
            <a:ext cx="5018772" cy="9095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smtClean="0"/>
              <a:t>                 Black </a:t>
            </a:r>
            <a:r>
              <a:rPr lang="en-US" sz="2400" dirty="0"/>
              <a:t>mailing</a:t>
            </a:r>
          </a:p>
        </p:txBody>
      </p:sp>
      <p:sp>
        <p:nvSpPr>
          <p:cNvPr id="14" name="Rectangle 13"/>
          <p:cNvSpPr/>
          <p:nvPr/>
        </p:nvSpPr>
        <p:spPr>
          <a:xfrm>
            <a:off x="5754849" y="3196825"/>
            <a:ext cx="4894500" cy="9095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Online harassment</a:t>
            </a:r>
          </a:p>
          <a:p>
            <a:pPr algn="ctr"/>
            <a:endParaRPr lang="en-IN" sz="2400" dirty="0"/>
          </a:p>
        </p:txBody>
      </p:sp>
      <p:sp>
        <p:nvSpPr>
          <p:cNvPr id="15" name="Rectangle 14"/>
          <p:cNvSpPr/>
          <p:nvPr/>
        </p:nvSpPr>
        <p:spPr>
          <a:xfrm>
            <a:off x="722937" y="4006361"/>
            <a:ext cx="5018771" cy="10186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smtClean="0"/>
              <a:t>             Misrepresentation</a:t>
            </a:r>
            <a:endParaRPr lang="en-US" sz="2400" dirty="0"/>
          </a:p>
        </p:txBody>
      </p:sp>
      <p:sp>
        <p:nvSpPr>
          <p:cNvPr id="16" name="Rectangle 15"/>
          <p:cNvSpPr/>
          <p:nvPr/>
        </p:nvSpPr>
        <p:spPr>
          <a:xfrm>
            <a:off x="5741708" y="4006361"/>
            <a:ext cx="4874186" cy="10186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Fake profile creating</a:t>
            </a:r>
          </a:p>
          <a:p>
            <a:pPr algn="ctr"/>
            <a:endParaRPr lang="en-IN" sz="2400" dirty="0"/>
          </a:p>
        </p:txBody>
      </p:sp>
      <p:sp>
        <p:nvSpPr>
          <p:cNvPr id="4" name="Rectangle 3"/>
          <p:cNvSpPr/>
          <p:nvPr/>
        </p:nvSpPr>
        <p:spPr>
          <a:xfrm>
            <a:off x="1719743" y="5025006"/>
            <a:ext cx="7323589" cy="1065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smtClean="0"/>
              <a:t>Unauthorized </a:t>
            </a:r>
            <a:r>
              <a:rPr lang="en-US" sz="2400" dirty="0"/>
              <a:t>access to systems </a:t>
            </a:r>
            <a:r>
              <a:rPr lang="en-US" sz="2400" dirty="0" smtClean="0"/>
              <a:t>&amp; network </a:t>
            </a:r>
            <a:r>
              <a:rPr lang="en-US" sz="2400" dirty="0"/>
              <a:t>intrusion</a:t>
            </a:r>
          </a:p>
        </p:txBody>
      </p:sp>
    </p:spTree>
    <p:extLst>
      <p:ext uri="{BB962C8B-B14F-4D97-AF65-F5344CB8AC3E}">
        <p14:creationId xmlns:p14="http://schemas.microsoft.com/office/powerpoint/2010/main" val="260248505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261" y="0"/>
            <a:ext cx="8721741" cy="706170"/>
          </a:xfrm>
        </p:spPr>
        <p:txBody>
          <a:bodyPr>
            <a:normAutofit fontScale="90000"/>
          </a:bodyPr>
          <a:lstStyle/>
          <a:p>
            <a:r>
              <a:rPr lang="en-US" dirty="0"/>
              <a:t>Best practices against social engineering</a:t>
            </a:r>
            <a:br>
              <a:rPr lang="en-US" dirty="0"/>
            </a:br>
            <a:endParaRPr lang="en-IN" dirty="0"/>
          </a:p>
        </p:txBody>
      </p:sp>
      <p:sp>
        <p:nvSpPr>
          <p:cNvPr id="3" name="Content Placeholder 2"/>
          <p:cNvSpPr>
            <a:spLocks noGrp="1"/>
          </p:cNvSpPr>
          <p:nvPr>
            <p:ph idx="1"/>
          </p:nvPr>
        </p:nvSpPr>
        <p:spPr>
          <a:xfrm>
            <a:off x="327171" y="629531"/>
            <a:ext cx="11736198" cy="5698841"/>
          </a:xfrm>
        </p:spPr>
        <p:txBody>
          <a:bodyPr>
            <a:noAutofit/>
          </a:bodyPr>
          <a:lstStyle/>
          <a:p>
            <a:pPr marL="0" indent="0">
              <a:buNone/>
            </a:pPr>
            <a:r>
              <a:rPr lang="en-US" dirty="0"/>
              <a:t>Awareness, alertness and commitment to </a:t>
            </a:r>
            <a:r>
              <a:rPr lang="en-US" dirty="0" smtClean="0"/>
              <a:t>hygienic </a:t>
            </a:r>
            <a:r>
              <a:rPr lang="en-US" dirty="0"/>
              <a:t>digital practices is necessary for every citizen to safeguard themselves in the digital space. Mentioned below are few practices that can help the users stay safe from social engineering attempts</a:t>
            </a:r>
            <a:r>
              <a:rPr lang="en-US" dirty="0" smtClean="0"/>
              <a:t>.</a:t>
            </a:r>
          </a:p>
          <a:p>
            <a:r>
              <a:rPr lang="en-US" dirty="0"/>
              <a:t>Be suspicious of unsolicited phone calls, visits, or email messages from individuals asking about employees or other internal information. If an unknown individual claims to be from a legitimate organization, try to verify his or her identity directly with the company.</a:t>
            </a:r>
          </a:p>
          <a:p>
            <a:r>
              <a:rPr lang="en-US" dirty="0" smtClean="0"/>
              <a:t>Do </a:t>
            </a:r>
            <a:r>
              <a:rPr lang="en-US" dirty="0"/>
              <a:t>not provide personal information or information about your organization, including its structure or networks, unless you are certain of a person's authority to have the information</a:t>
            </a:r>
          </a:p>
          <a:p>
            <a:r>
              <a:rPr lang="en-US" dirty="0" smtClean="0"/>
              <a:t>Do </a:t>
            </a:r>
            <a:r>
              <a:rPr lang="en-US" dirty="0"/>
              <a:t>not reveal personal or financial information in email, and do not respond to email solicitations for this information. This includes following links sent in email.</a:t>
            </a:r>
          </a:p>
          <a:p>
            <a:r>
              <a:rPr lang="en-US" dirty="0" smtClean="0"/>
              <a:t>Don't </a:t>
            </a:r>
            <a:r>
              <a:rPr lang="en-US" dirty="0"/>
              <a:t>send sensitive information over the Internet before checking a website's security. Pay attention to the URL of a website. Malicious websites may look identical to a legitimate site, but the URL may use a variation in spelling or a different domain (</a:t>
            </a:r>
            <a:r>
              <a:rPr lang="en-US" dirty="0" err="1"/>
              <a:t>e.g.,.com</a:t>
            </a:r>
            <a:r>
              <a:rPr lang="en-US" dirty="0"/>
              <a:t> vs.. net).</a:t>
            </a:r>
          </a:p>
          <a:p>
            <a:r>
              <a:rPr lang="en-US" dirty="0" smtClean="0"/>
              <a:t>If </a:t>
            </a:r>
            <a:r>
              <a:rPr lang="en-US" dirty="0"/>
              <a:t>you are unsure whether an email request is legitimate, try to verify it by contacting the company directly. Do not use contact information provided on a website connected to the request; instead, check previous statements for contact information. Information about known phishing attacks is also available online from groups such as the Anti-Phishing Working Group</a:t>
            </a:r>
          </a:p>
          <a:p>
            <a:r>
              <a:rPr lang="en-US" dirty="0" smtClean="0"/>
              <a:t>Install </a:t>
            </a:r>
            <a:r>
              <a:rPr lang="en-US" dirty="0"/>
              <a:t>and maintain anti-virus software, firewalls, and email filters to reduce some of this traffic.</a:t>
            </a:r>
          </a:p>
          <a:p>
            <a:r>
              <a:rPr lang="en-US" dirty="0" smtClean="0"/>
              <a:t>Take </a:t>
            </a:r>
            <a:r>
              <a:rPr lang="en-US" dirty="0"/>
              <a:t>advantage of any anti-phishing features offered by your email client and web browser</a:t>
            </a:r>
          </a:p>
          <a:p>
            <a:endParaRPr lang="en-IN" dirty="0" smtClean="0"/>
          </a:p>
          <a:p>
            <a:endParaRPr lang="en-IN" dirty="0"/>
          </a:p>
          <a:p>
            <a:endParaRPr lang="en-IN"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0" y="76640"/>
            <a:ext cx="587447" cy="552891"/>
          </a:xfrm>
          <a:prstGeom prst="rect">
            <a:avLst/>
          </a:prstGeom>
        </p:spPr>
      </p:pic>
    </p:spTree>
    <p:extLst>
      <p:ext uri="{BB962C8B-B14F-4D97-AF65-F5344CB8AC3E}">
        <p14:creationId xmlns:p14="http://schemas.microsoft.com/office/powerpoint/2010/main" val="38308217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39688"/>
            <a:ext cx="12192000" cy="6818312"/>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6644080" y="195639"/>
            <a:ext cx="587447" cy="552891"/>
          </a:xfrm>
          <a:prstGeom prst="rect">
            <a:avLst/>
          </a:prstGeom>
        </p:spPr>
      </p:pic>
    </p:spTree>
    <p:extLst>
      <p:ext uri="{BB962C8B-B14F-4D97-AF65-F5344CB8AC3E}">
        <p14:creationId xmlns:p14="http://schemas.microsoft.com/office/powerpoint/2010/main" val="153730007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675" y="1"/>
            <a:ext cx="8569326" cy="914400"/>
          </a:xfrm>
        </p:spPr>
        <p:txBody>
          <a:bodyPr/>
          <a:lstStyle/>
          <a:p>
            <a:r>
              <a:rPr lang="en-IN" dirty="0" smtClean="0"/>
              <a:t>Digital Arrest </a:t>
            </a:r>
            <a:endParaRPr lang="en-IN" dirty="0"/>
          </a:p>
        </p:txBody>
      </p:sp>
      <p:sp>
        <p:nvSpPr>
          <p:cNvPr id="3" name="Content Placeholder 2"/>
          <p:cNvSpPr>
            <a:spLocks noGrp="1"/>
          </p:cNvSpPr>
          <p:nvPr>
            <p:ph idx="1"/>
          </p:nvPr>
        </p:nvSpPr>
        <p:spPr>
          <a:xfrm>
            <a:off x="0" y="597530"/>
            <a:ext cx="12122092" cy="2634558"/>
          </a:xfrm>
        </p:spPr>
        <p:txBody>
          <a:bodyPr>
            <a:noAutofit/>
          </a:bodyPr>
          <a:lstStyle/>
          <a:p>
            <a:pPr marL="0" indent="0" algn="just">
              <a:buNone/>
            </a:pPr>
            <a:r>
              <a:rPr lang="en-US" sz="1600" dirty="0"/>
              <a:t>Digital arrest scams involve fraudsters impersonating law enforcement officials and threatening victims with false arrest warrants or legal actions unless they make immediate payments or share sensitive personal information. These scams are typically executed through phone calls, emails, or text messages, creating fear and urgency to manipulate victims.</a:t>
            </a:r>
          </a:p>
          <a:p>
            <a:pPr marL="0" indent="0" algn="just">
              <a:buNone/>
            </a:pPr>
            <a:r>
              <a:rPr lang="en-US" sz="1600" dirty="0"/>
              <a:t>In recent years, India has witnessed a surge in the “digital arrest” scam. The cyber fraudsters target victims with phone calls, alleging involvement in suspicious activities – often centered around parcels containing illegal items. The scammers use scare tactics, claiming the victim is under “digital arrest”. </a:t>
            </a:r>
          </a:p>
          <a:p>
            <a:pPr marL="0" indent="0" algn="just">
              <a:buNone/>
            </a:pPr>
            <a:r>
              <a:rPr lang="en-US" sz="1600" dirty="0"/>
              <a:t>The scammers don't stop at mere accusations. They employ intimidation tactics, threatening legal repercussions and even “digital arrest.” This fabricated concept creates panic, isolating victims and making them more susceptible to manipulation. In some cases, scammers keep victims on video calls for extended periods, further amplifying the sense of confinement and urgency</a:t>
            </a:r>
            <a:endParaRPr lang="en-IN" sz="1600" dirty="0"/>
          </a:p>
        </p:txBody>
      </p:sp>
      <p:pic>
        <p:nvPicPr>
          <p:cNvPr id="2052" name="Picture 4" descr="https://staysafeonline.in/concept/index.php?img=2175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74" y="3336201"/>
            <a:ext cx="11806759" cy="35127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0" y="44638"/>
            <a:ext cx="587447" cy="552891"/>
          </a:xfrm>
          <a:prstGeom prst="rect">
            <a:avLst/>
          </a:prstGeom>
        </p:spPr>
      </p:pic>
    </p:spTree>
    <p:extLst>
      <p:ext uri="{BB962C8B-B14F-4D97-AF65-F5344CB8AC3E}">
        <p14:creationId xmlns:p14="http://schemas.microsoft.com/office/powerpoint/2010/main" val="229680543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2587" y="-26845"/>
            <a:ext cx="8450137" cy="878186"/>
          </a:xfrm>
        </p:spPr>
        <p:txBody>
          <a:bodyPr/>
          <a:lstStyle/>
          <a:p>
            <a:r>
              <a:rPr lang="en-IN" dirty="0" smtClean="0"/>
              <a:t>Dangers-Digital Arrest</a:t>
            </a:r>
            <a:endParaRPr lang="en-IN" dirty="0"/>
          </a:p>
        </p:txBody>
      </p:sp>
      <p:sp>
        <p:nvSpPr>
          <p:cNvPr id="3" name="Content Placeholder 2"/>
          <p:cNvSpPr>
            <a:spLocks noGrp="1"/>
          </p:cNvSpPr>
          <p:nvPr>
            <p:ph idx="1"/>
          </p:nvPr>
        </p:nvSpPr>
        <p:spPr>
          <a:xfrm>
            <a:off x="176059" y="769546"/>
            <a:ext cx="11870532" cy="5866146"/>
          </a:xfrm>
        </p:spPr>
        <p:txBody>
          <a:bodyPr>
            <a:noAutofit/>
          </a:bodyPr>
          <a:lstStyle/>
          <a:p>
            <a:pPr marL="0" indent="0" algn="just">
              <a:buNone/>
            </a:pPr>
            <a:r>
              <a:rPr lang="en-US" sz="1700" dirty="0"/>
              <a:t>The consequences of this scam are severe. Many victims, succumbing to pressure, end up transferring significant sums of money to the scammers. These financial losses can be devastating, impacting individuals and </a:t>
            </a:r>
            <a:r>
              <a:rPr lang="en-US" sz="1700" dirty="0" smtClean="0"/>
              <a:t>families.</a:t>
            </a:r>
          </a:p>
          <a:p>
            <a:pPr marL="0" indent="0">
              <a:buNone/>
            </a:pPr>
            <a:r>
              <a:rPr lang="en-US" sz="1700" b="1" dirty="0" smtClean="0"/>
              <a:t>Dangers of digital arrest scam include:</a:t>
            </a:r>
            <a:endParaRPr lang="en-US" sz="1700" dirty="0" smtClean="0"/>
          </a:p>
          <a:p>
            <a:r>
              <a:rPr lang="en-US" sz="1700" b="1" dirty="0" smtClean="0"/>
              <a:t>Financial </a:t>
            </a:r>
            <a:r>
              <a:rPr lang="en-US" sz="1700" b="1" dirty="0"/>
              <a:t>loss: </a:t>
            </a:r>
            <a:r>
              <a:rPr lang="en-US" sz="1700" dirty="0" smtClean="0"/>
              <a:t>Scammers </a:t>
            </a:r>
            <a:r>
              <a:rPr lang="en-US" sz="1700" dirty="0"/>
              <a:t>often demand immediate payment, leading to significant financial loss. Victims may be tricked into making payments through methods that are hard to trace or recover.</a:t>
            </a:r>
          </a:p>
          <a:p>
            <a:r>
              <a:rPr lang="en-US" sz="1700" b="1" dirty="0"/>
              <a:t>Identity theft </a:t>
            </a:r>
            <a:r>
              <a:rPr lang="en-US" sz="1700" b="1" dirty="0" smtClean="0"/>
              <a:t>:</a:t>
            </a:r>
            <a:r>
              <a:rPr lang="en-US" sz="1700" dirty="0" smtClean="0"/>
              <a:t>In </a:t>
            </a:r>
            <a:r>
              <a:rPr lang="en-US" sz="1700" dirty="0"/>
              <a:t>some cases, scammers ask for personal information, such as Social Security numbers, bank account details, or passwords. This can result in identity theft, with long-term consequences like fraudulent transactions or new accounts being opened in the victim's </a:t>
            </a:r>
            <a:r>
              <a:rPr lang="en-US" sz="1700" dirty="0" smtClean="0"/>
              <a:t>name.</a:t>
            </a:r>
          </a:p>
          <a:p>
            <a:r>
              <a:rPr lang="en-US" sz="1700" b="1" dirty="0" smtClean="0"/>
              <a:t>Emotional </a:t>
            </a:r>
            <a:r>
              <a:rPr lang="en-US" sz="1700" b="1" dirty="0"/>
              <a:t>distress:</a:t>
            </a:r>
            <a:endParaRPr lang="en-US" sz="1700" dirty="0"/>
          </a:p>
          <a:p>
            <a:pPr algn="just"/>
            <a:r>
              <a:rPr lang="en-US" sz="1700" dirty="0"/>
              <a:t>The fear of being arrested, even for a fabricated crime, can cause extreme emotional stress. Victims may experience anxiety, panic attacks, or a sense of helplessness.  </a:t>
            </a:r>
          </a:p>
          <a:p>
            <a:r>
              <a:rPr lang="en-US" sz="1700" dirty="0" smtClean="0"/>
              <a:t>Scammers </a:t>
            </a:r>
            <a:r>
              <a:rPr lang="en-US" sz="1700" dirty="0"/>
              <a:t>might ask victims to click on malicious links or download files that contain malware. This could lead to further issues, like hackers gaining access to the victim’s device, personal data, or online accounts.</a:t>
            </a:r>
          </a:p>
          <a:p>
            <a:r>
              <a:rPr lang="en-US" sz="1700" b="1" dirty="0"/>
              <a:t>Reputational </a:t>
            </a:r>
            <a:r>
              <a:rPr lang="en-US" sz="1700" b="1" dirty="0" err="1" smtClean="0"/>
              <a:t>damage:</a:t>
            </a:r>
            <a:r>
              <a:rPr lang="en-US" sz="1700" dirty="0" err="1" smtClean="0"/>
              <a:t>In</a:t>
            </a:r>
            <a:r>
              <a:rPr lang="en-US" sz="1700" dirty="0" smtClean="0"/>
              <a:t> </a:t>
            </a:r>
            <a:r>
              <a:rPr lang="en-US" sz="1700" dirty="0"/>
              <a:t>some cases, especially when scammers obtain personal or professional information, they may threaten to leak sensitive data or make false public accusations. This can harm a victim’s reputation, both personally and professionally.</a:t>
            </a:r>
          </a:p>
          <a:p>
            <a:r>
              <a:rPr lang="en-US" sz="1700" b="1" dirty="0"/>
              <a:t>Vulnerability to future </a:t>
            </a:r>
            <a:r>
              <a:rPr lang="en-US" sz="1700" b="1" dirty="0" err="1" smtClean="0"/>
              <a:t>scams:</a:t>
            </a:r>
            <a:r>
              <a:rPr lang="en-US" sz="1700" dirty="0" err="1" smtClean="0"/>
              <a:t>Once</a:t>
            </a:r>
            <a:r>
              <a:rPr lang="en-US" sz="1700" dirty="0" smtClean="0"/>
              <a:t> </a:t>
            </a:r>
            <a:r>
              <a:rPr lang="en-US" sz="1700" dirty="0"/>
              <a:t>a person has fallen victim to a digital arrest scam, they may be added to a "sucker list," making them a target for future scams. Scammers may sell or share this information with other criminals.</a:t>
            </a:r>
          </a:p>
          <a:p>
            <a:endParaRPr lang="en-IN" sz="17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76059" y="135803"/>
            <a:ext cx="587447" cy="552891"/>
          </a:xfrm>
          <a:prstGeom prst="rect">
            <a:avLst/>
          </a:prstGeom>
        </p:spPr>
      </p:pic>
    </p:spTree>
    <p:extLst>
      <p:ext uri="{BB962C8B-B14F-4D97-AF65-F5344CB8AC3E}">
        <p14:creationId xmlns:p14="http://schemas.microsoft.com/office/powerpoint/2010/main" val="131127281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Dangers-Digital Arrest</a:t>
            </a:r>
          </a:p>
        </p:txBody>
      </p:sp>
      <p:sp>
        <p:nvSpPr>
          <p:cNvPr id="3" name="Content Placeholder 2"/>
          <p:cNvSpPr>
            <a:spLocks noGrp="1"/>
          </p:cNvSpPr>
          <p:nvPr>
            <p:ph idx="1"/>
          </p:nvPr>
        </p:nvSpPr>
        <p:spPr>
          <a:xfrm>
            <a:off x="677334" y="1816593"/>
            <a:ext cx="9506901" cy="4449984"/>
          </a:xfrm>
        </p:spPr>
        <p:txBody>
          <a:bodyPr/>
          <a:lstStyle/>
          <a:p>
            <a:pPr marL="0" indent="0">
              <a:buNone/>
            </a:pPr>
            <a:endParaRPr lang="en-IN" dirty="0"/>
          </a:p>
        </p:txBody>
      </p:sp>
      <p:sp>
        <p:nvSpPr>
          <p:cNvPr id="4" name="Oval 3"/>
          <p:cNvSpPr/>
          <p:nvPr/>
        </p:nvSpPr>
        <p:spPr>
          <a:xfrm>
            <a:off x="4364445" y="3137392"/>
            <a:ext cx="3110144" cy="1610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Dangers</a:t>
            </a:r>
            <a:endParaRPr lang="en-IN" sz="2400" dirty="0"/>
          </a:p>
        </p:txBody>
      </p:sp>
      <p:sp>
        <p:nvSpPr>
          <p:cNvPr id="5" name="Flowchart: Data 4"/>
          <p:cNvSpPr/>
          <p:nvPr/>
        </p:nvSpPr>
        <p:spPr>
          <a:xfrm>
            <a:off x="1266738" y="3598105"/>
            <a:ext cx="3196206" cy="1301065"/>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Emotional distress</a:t>
            </a:r>
            <a:endParaRPr lang="en-IN" sz="2400" dirty="0"/>
          </a:p>
        </p:txBody>
      </p:sp>
      <p:sp>
        <p:nvSpPr>
          <p:cNvPr id="6" name="Trapezoid 5"/>
          <p:cNvSpPr/>
          <p:nvPr/>
        </p:nvSpPr>
        <p:spPr>
          <a:xfrm>
            <a:off x="4580389" y="4748169"/>
            <a:ext cx="2533475" cy="1518408"/>
          </a:xfrm>
          <a:prstGeom prst="trapezoid">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Vulnerability to future scams</a:t>
            </a:r>
            <a:endParaRPr lang="en-IN" sz="2400" dirty="0"/>
          </a:p>
        </p:txBody>
      </p:sp>
      <p:sp>
        <p:nvSpPr>
          <p:cNvPr id="7" name="Snip and Round Single Corner Rectangle 6"/>
          <p:cNvSpPr/>
          <p:nvPr/>
        </p:nvSpPr>
        <p:spPr>
          <a:xfrm>
            <a:off x="2565033" y="2237953"/>
            <a:ext cx="2227304" cy="1136552"/>
          </a:xfrm>
          <a:prstGeom prst="snip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Financial loss</a:t>
            </a:r>
            <a:endParaRPr lang="en-IN" sz="2400" dirty="0"/>
          </a:p>
        </p:txBody>
      </p:sp>
      <p:sp>
        <p:nvSpPr>
          <p:cNvPr id="8" name="Trapezoid 7"/>
          <p:cNvSpPr/>
          <p:nvPr/>
        </p:nvSpPr>
        <p:spPr>
          <a:xfrm>
            <a:off x="6503666" y="2002999"/>
            <a:ext cx="2325745" cy="1206992"/>
          </a:xfrm>
          <a:prstGeom prst="trapezoid">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Identity theft</a:t>
            </a:r>
            <a:endParaRPr lang="en-IN" sz="2400" dirty="0"/>
          </a:p>
        </p:txBody>
      </p:sp>
      <p:sp>
        <p:nvSpPr>
          <p:cNvPr id="11" name="Flowchart: Delay 10"/>
          <p:cNvSpPr/>
          <p:nvPr/>
        </p:nvSpPr>
        <p:spPr>
          <a:xfrm>
            <a:off x="7474590" y="3542314"/>
            <a:ext cx="2537639" cy="1507858"/>
          </a:xfrm>
          <a:prstGeom prst="flowChartDe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Reputation damage</a:t>
            </a:r>
            <a:endParaRPr lang="en-IN" sz="2400"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2279" y="248902"/>
            <a:ext cx="587447" cy="552891"/>
          </a:xfrm>
          <a:prstGeom prst="rect">
            <a:avLst/>
          </a:prstGeom>
        </p:spPr>
      </p:pic>
    </p:spTree>
    <p:extLst>
      <p:ext uri="{BB962C8B-B14F-4D97-AF65-F5344CB8AC3E}">
        <p14:creationId xmlns:p14="http://schemas.microsoft.com/office/powerpoint/2010/main" val="336201758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899" y="243282"/>
            <a:ext cx="8435102" cy="738230"/>
          </a:xfrm>
        </p:spPr>
        <p:txBody>
          <a:bodyPr/>
          <a:lstStyle/>
          <a:p>
            <a:r>
              <a:rPr lang="en-IN" dirty="0" smtClean="0"/>
              <a:t>Safety and Security Measures</a:t>
            </a:r>
            <a:endParaRPr lang="en-IN" dirty="0"/>
          </a:p>
        </p:txBody>
      </p:sp>
      <p:sp>
        <p:nvSpPr>
          <p:cNvPr id="3" name="Content Placeholder 2"/>
          <p:cNvSpPr>
            <a:spLocks noGrp="1"/>
          </p:cNvSpPr>
          <p:nvPr>
            <p:ph idx="1"/>
          </p:nvPr>
        </p:nvSpPr>
        <p:spPr>
          <a:xfrm>
            <a:off x="276837" y="906011"/>
            <a:ext cx="11476139" cy="5436066"/>
          </a:xfrm>
        </p:spPr>
        <p:txBody>
          <a:bodyPr>
            <a:noAutofit/>
          </a:bodyPr>
          <a:lstStyle/>
          <a:p>
            <a:pPr marL="0" indent="0">
              <a:buNone/>
            </a:pPr>
            <a:r>
              <a:rPr lang="en-US" sz="1500" dirty="0"/>
              <a:t>I</a:t>
            </a:r>
            <a:r>
              <a:rPr lang="en-US" sz="1500" dirty="0" smtClean="0"/>
              <a:t>t </a:t>
            </a:r>
            <a:r>
              <a:rPr lang="en-US" sz="1500" dirty="0"/>
              <a:t>is essential to stay informed and proactive to protect yourself from such scams in digital world. Mentioned below are a few key safety measures that can help you safeguard against digital scams.</a:t>
            </a:r>
          </a:p>
          <a:p>
            <a:r>
              <a:rPr lang="en-US" sz="1500" b="1" dirty="0"/>
              <a:t>Stay calm</a:t>
            </a:r>
            <a:r>
              <a:rPr lang="en-US" sz="1500" dirty="0"/>
              <a:t>: Remember that legitimate law enforcement agencies will never contact you regarding a case over the phone or request immediate payment. Take a moment to breathe and assess the situation.</a:t>
            </a:r>
          </a:p>
          <a:p>
            <a:r>
              <a:rPr lang="en-US" sz="1500" b="1" dirty="0"/>
              <a:t>Do not engage with the scammer</a:t>
            </a:r>
            <a:r>
              <a:rPr lang="en-US" sz="1500" dirty="0"/>
              <a:t>:  Feel empowered to end any suspicious call immediately. If you receive a text or email that seems dubious, delete it without responding. Avoid clicking on any links or replying to messages.</a:t>
            </a:r>
          </a:p>
          <a:p>
            <a:r>
              <a:rPr lang="en-US" sz="1500" b="1" dirty="0"/>
              <a:t>Verify the caller’s identity</a:t>
            </a:r>
            <a:r>
              <a:rPr lang="en-US" sz="1500" dirty="0"/>
              <a:t>:  If you have concerns about a potential legal matter, contact the relevant agency directly using their official phone number, which can be found on their official websites. Do not use any number provided by the caller.</a:t>
            </a:r>
          </a:p>
          <a:p>
            <a:r>
              <a:rPr lang="en-US" sz="1500" b="1" dirty="0"/>
              <a:t>Report the incident</a:t>
            </a:r>
            <a:r>
              <a:rPr lang="en-US" sz="1500" dirty="0"/>
              <a:t>: Inform local authorities about the scam attempt. You can report it to your local police station or file a complaint online through the </a:t>
            </a:r>
            <a:r>
              <a:rPr lang="en-US" sz="1500" dirty="0">
                <a:hlinkClick r:id="rId2"/>
              </a:rPr>
              <a:t>National Cyber Crime Reporting Portal (https://cybercrime.gov.in/</a:t>
            </a:r>
            <a:r>
              <a:rPr lang="en-US" sz="1500" dirty="0"/>
              <a:t>) </a:t>
            </a:r>
          </a:p>
          <a:p>
            <a:r>
              <a:rPr lang="en-US" sz="1500" b="1" dirty="0"/>
              <a:t>Be cautious with Personal Information</a:t>
            </a:r>
            <a:r>
              <a:rPr lang="en-US" sz="1500" dirty="0"/>
              <a:t>: Never share sensitive information, such as bank account details or passwords, over the phone or via email. Protect your personal data vigilantly.</a:t>
            </a:r>
          </a:p>
          <a:p>
            <a:r>
              <a:rPr lang="en-US" sz="1500" b="1" dirty="0"/>
              <a:t>Educate yourself and others</a:t>
            </a:r>
            <a:r>
              <a:rPr lang="en-US" sz="1500" dirty="0"/>
              <a:t>: Stay informed about common scams and share this knowledge with friends and family to help them recognize and avoid similar threats.</a:t>
            </a:r>
          </a:p>
          <a:p>
            <a:r>
              <a:rPr lang="en-US" sz="1500" b="1" dirty="0"/>
              <a:t>Use Security Software</a:t>
            </a:r>
            <a:r>
              <a:rPr lang="en-US" sz="1500" dirty="0"/>
              <a:t>: Install and maintain reputable antivirus and anti-malware software on your devices to protect against malicious attacks.</a:t>
            </a:r>
          </a:p>
          <a:p>
            <a:r>
              <a:rPr lang="en-US" sz="1500" b="1" dirty="0"/>
              <a:t>Monitor Financial Accounts</a:t>
            </a:r>
            <a:r>
              <a:rPr lang="en-US" sz="1500" dirty="0"/>
              <a:t>: Regularly check your bank and credit card statements for any unauthorized transactions. Report suspicious activity immediately.</a:t>
            </a:r>
          </a:p>
          <a:p>
            <a:pPr marL="0" indent="0">
              <a:buNone/>
            </a:pPr>
            <a:r>
              <a:rPr lang="en-US" sz="1500" dirty="0"/>
              <a:t>By following these safety measures and staying vigilant, you can significantly reduce your risk of falling victim to digital arrest scams. Awareness and quick action are crucial in protecting yourself and your information from cybercriminals.</a:t>
            </a:r>
          </a:p>
          <a:p>
            <a:endParaRPr lang="en-IN" sz="1500"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159390" y="162083"/>
            <a:ext cx="587447" cy="552891"/>
          </a:xfrm>
          <a:prstGeom prst="rect">
            <a:avLst/>
          </a:prstGeom>
        </p:spPr>
      </p:pic>
    </p:spTree>
    <p:extLst>
      <p:ext uri="{BB962C8B-B14F-4D97-AF65-F5344CB8AC3E}">
        <p14:creationId xmlns:p14="http://schemas.microsoft.com/office/powerpoint/2010/main" val="20853216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r>
              <a:rPr lang="en-IN" dirty="0"/>
              <a:t>Safety and Security Measures</a:t>
            </a:r>
          </a:p>
        </p:txBody>
      </p:sp>
      <p:sp>
        <p:nvSpPr>
          <p:cNvPr id="3" name="Content Placeholder 2"/>
          <p:cNvSpPr>
            <a:spLocks noGrp="1"/>
          </p:cNvSpPr>
          <p:nvPr>
            <p:ph idx="1"/>
          </p:nvPr>
        </p:nvSpPr>
        <p:spPr>
          <a:xfrm>
            <a:off x="814951" y="2022988"/>
            <a:ext cx="9800944" cy="4035280"/>
          </a:xfrm>
        </p:spPr>
        <p:txBody>
          <a:bodyPr/>
          <a:lstStyle/>
          <a:p>
            <a:pPr marL="0" indent="0">
              <a:buNone/>
            </a:pPr>
            <a:endParaRPr lang="en-IN" dirty="0"/>
          </a:p>
        </p:txBody>
      </p:sp>
      <p:sp>
        <p:nvSpPr>
          <p:cNvPr id="7" name="Rectangle 6"/>
          <p:cNvSpPr/>
          <p:nvPr/>
        </p:nvSpPr>
        <p:spPr>
          <a:xfrm>
            <a:off x="722936" y="1569822"/>
            <a:ext cx="5067990" cy="10835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Stay calm</a:t>
            </a:r>
            <a:endParaRPr lang="en-IN" sz="2400" dirty="0"/>
          </a:p>
        </p:txBody>
      </p:sp>
      <p:sp>
        <p:nvSpPr>
          <p:cNvPr id="8" name="Rectangle 7"/>
          <p:cNvSpPr/>
          <p:nvPr/>
        </p:nvSpPr>
        <p:spPr>
          <a:xfrm>
            <a:off x="5766318" y="1584116"/>
            <a:ext cx="4887700" cy="10835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Do not engage with the scammer</a:t>
            </a:r>
            <a:endParaRPr lang="en-IN" sz="2400" dirty="0"/>
          </a:p>
        </p:txBody>
      </p:sp>
      <p:sp>
        <p:nvSpPr>
          <p:cNvPr id="10" name="Rectangle 9"/>
          <p:cNvSpPr/>
          <p:nvPr/>
        </p:nvSpPr>
        <p:spPr>
          <a:xfrm>
            <a:off x="722936" y="2667698"/>
            <a:ext cx="5043381" cy="12223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Verify the caller’s identity</a:t>
            </a:r>
            <a:endParaRPr lang="en-IN" sz="2400" dirty="0"/>
          </a:p>
        </p:txBody>
      </p:sp>
      <p:sp>
        <p:nvSpPr>
          <p:cNvPr id="11" name="Rectangle 10"/>
          <p:cNvSpPr/>
          <p:nvPr/>
        </p:nvSpPr>
        <p:spPr>
          <a:xfrm>
            <a:off x="5754848" y="2667698"/>
            <a:ext cx="4899170" cy="12010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Report the incident</a:t>
            </a:r>
            <a:endParaRPr lang="en-IN" sz="2400" dirty="0"/>
          </a:p>
        </p:txBody>
      </p:sp>
      <p:sp>
        <p:nvSpPr>
          <p:cNvPr id="13" name="Rectangle 12"/>
          <p:cNvSpPr/>
          <p:nvPr/>
        </p:nvSpPr>
        <p:spPr>
          <a:xfrm>
            <a:off x="722937" y="3890009"/>
            <a:ext cx="5018772" cy="1025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Be cautious with Personal Information</a:t>
            </a:r>
            <a:endParaRPr lang="en-IN" sz="2400" dirty="0"/>
          </a:p>
        </p:txBody>
      </p:sp>
      <p:sp>
        <p:nvSpPr>
          <p:cNvPr id="14" name="Rectangle 13"/>
          <p:cNvSpPr/>
          <p:nvPr/>
        </p:nvSpPr>
        <p:spPr>
          <a:xfrm>
            <a:off x="5741709" y="3868728"/>
            <a:ext cx="4874185" cy="10472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Educate yourself and others</a:t>
            </a:r>
            <a:endParaRPr lang="en-IN" sz="2400" dirty="0"/>
          </a:p>
        </p:txBody>
      </p:sp>
      <p:sp>
        <p:nvSpPr>
          <p:cNvPr id="15" name="Rectangle 14"/>
          <p:cNvSpPr/>
          <p:nvPr/>
        </p:nvSpPr>
        <p:spPr>
          <a:xfrm>
            <a:off x="722937" y="4915949"/>
            <a:ext cx="5018771" cy="1025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Use Security Software</a:t>
            </a:r>
            <a:endParaRPr lang="en-IN" sz="2400" dirty="0"/>
          </a:p>
        </p:txBody>
      </p:sp>
      <p:sp>
        <p:nvSpPr>
          <p:cNvPr id="16" name="Rectangle 15"/>
          <p:cNvSpPr/>
          <p:nvPr/>
        </p:nvSpPr>
        <p:spPr>
          <a:xfrm>
            <a:off x="5741708" y="4915949"/>
            <a:ext cx="4874186" cy="10402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Monitor Financial Accounts</a:t>
            </a:r>
            <a:endParaRPr lang="en-IN" sz="2400" dirty="0"/>
          </a:p>
        </p:txBody>
      </p:sp>
    </p:spTree>
    <p:extLst>
      <p:ext uri="{BB962C8B-B14F-4D97-AF65-F5344CB8AC3E}">
        <p14:creationId xmlns:p14="http://schemas.microsoft.com/office/powerpoint/2010/main" val="99393262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9592" y="169398"/>
            <a:ext cx="7874409" cy="820588"/>
          </a:xfrm>
        </p:spPr>
        <p:txBody>
          <a:bodyPr>
            <a:normAutofit/>
          </a:bodyPr>
          <a:lstStyle/>
          <a:p>
            <a:r>
              <a:rPr lang="en-IN" dirty="0" smtClean="0"/>
              <a:t>Some of the Common Scams</a:t>
            </a:r>
            <a:endParaRPr lang="en-IN" dirty="0"/>
          </a:p>
        </p:txBody>
      </p:sp>
      <p:sp>
        <p:nvSpPr>
          <p:cNvPr id="3" name="Content Placeholder 2"/>
          <p:cNvSpPr>
            <a:spLocks noGrp="1"/>
          </p:cNvSpPr>
          <p:nvPr>
            <p:ph idx="1"/>
          </p:nvPr>
        </p:nvSpPr>
        <p:spPr/>
        <p:txBody>
          <a:bodyPr/>
          <a:lstStyle/>
          <a:p>
            <a:pPr marL="0" indent="0">
              <a:buNone/>
            </a:pPr>
            <a:endParaRPr lang="en-IN" dirty="0"/>
          </a:p>
        </p:txBody>
      </p:sp>
      <p:sp>
        <p:nvSpPr>
          <p:cNvPr id="4" name="Oval 3"/>
          <p:cNvSpPr/>
          <p:nvPr/>
        </p:nvSpPr>
        <p:spPr>
          <a:xfrm>
            <a:off x="796954" y="4337107"/>
            <a:ext cx="2655177" cy="21895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Voice Cloning Scam</a:t>
            </a:r>
          </a:p>
          <a:p>
            <a:pPr algn="ctr"/>
            <a:endParaRPr lang="en-IN" sz="2400" dirty="0"/>
          </a:p>
        </p:txBody>
      </p:sp>
      <p:sp>
        <p:nvSpPr>
          <p:cNvPr id="11" name="Oval 10"/>
          <p:cNvSpPr/>
          <p:nvPr/>
        </p:nvSpPr>
        <p:spPr>
          <a:xfrm>
            <a:off x="3454214" y="4437774"/>
            <a:ext cx="2432808" cy="19881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Stock Trade Scam</a:t>
            </a:r>
          </a:p>
          <a:p>
            <a:pPr algn="ctr"/>
            <a:endParaRPr lang="en-IN" sz="2400" dirty="0"/>
          </a:p>
        </p:txBody>
      </p:sp>
      <p:sp>
        <p:nvSpPr>
          <p:cNvPr id="12" name="Oval 11"/>
          <p:cNvSpPr/>
          <p:nvPr/>
        </p:nvSpPr>
        <p:spPr>
          <a:xfrm>
            <a:off x="5903286" y="4530055"/>
            <a:ext cx="2468927" cy="19617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dirty="0"/>
              <a:t>QR Code Scams</a:t>
            </a:r>
          </a:p>
        </p:txBody>
      </p:sp>
      <p:sp>
        <p:nvSpPr>
          <p:cNvPr id="13" name="Oval 12"/>
          <p:cNvSpPr/>
          <p:nvPr/>
        </p:nvSpPr>
        <p:spPr>
          <a:xfrm>
            <a:off x="2707139" y="2747473"/>
            <a:ext cx="2268529" cy="18683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err="1"/>
              <a:t>AePS</a:t>
            </a:r>
            <a:r>
              <a:rPr lang="en-IN" sz="2400" dirty="0"/>
              <a:t> Scams</a:t>
            </a:r>
          </a:p>
          <a:p>
            <a:pPr algn="ctr"/>
            <a:endParaRPr lang="en-IN" sz="2400" dirty="0"/>
          </a:p>
        </p:txBody>
      </p:sp>
      <p:sp>
        <p:nvSpPr>
          <p:cNvPr id="14" name="Oval 13"/>
          <p:cNvSpPr/>
          <p:nvPr/>
        </p:nvSpPr>
        <p:spPr>
          <a:xfrm>
            <a:off x="5001305" y="2769053"/>
            <a:ext cx="2767459" cy="18468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dirty="0" smtClean="0"/>
              <a:t>Courier        Scams</a:t>
            </a:r>
            <a:endParaRPr lang="en-IN" sz="2400" dirty="0"/>
          </a:p>
        </p:txBody>
      </p:sp>
      <p:sp>
        <p:nvSpPr>
          <p:cNvPr id="15" name="Oval 14"/>
          <p:cNvSpPr/>
          <p:nvPr/>
        </p:nvSpPr>
        <p:spPr>
          <a:xfrm>
            <a:off x="8372214" y="4530055"/>
            <a:ext cx="2647874" cy="17596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Romance Scams</a:t>
            </a:r>
          </a:p>
          <a:p>
            <a:pPr algn="ctr"/>
            <a:endParaRPr lang="en-IN" sz="2400" dirty="0"/>
          </a:p>
        </p:txBody>
      </p:sp>
      <p:sp>
        <p:nvSpPr>
          <p:cNvPr id="18" name="Oval 17"/>
          <p:cNvSpPr/>
          <p:nvPr/>
        </p:nvSpPr>
        <p:spPr>
          <a:xfrm>
            <a:off x="7794401" y="2747474"/>
            <a:ext cx="1523537" cy="20577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dirty="0" smtClean="0"/>
              <a:t> Loan </a:t>
            </a:r>
            <a:r>
              <a:rPr lang="en-IN" sz="2400" dirty="0"/>
              <a:t>Scams </a:t>
            </a:r>
          </a:p>
        </p:txBody>
      </p:sp>
      <p:sp>
        <p:nvSpPr>
          <p:cNvPr id="19" name="Rectangle 18"/>
          <p:cNvSpPr/>
          <p:nvPr/>
        </p:nvSpPr>
        <p:spPr>
          <a:xfrm>
            <a:off x="3844212" y="1576871"/>
            <a:ext cx="3657485" cy="1192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Social Media Frauds </a:t>
            </a:r>
            <a:r>
              <a:rPr lang="en-IN" sz="2400" dirty="0" smtClean="0"/>
              <a:t>– </a:t>
            </a:r>
          </a:p>
          <a:p>
            <a:pPr algn="ctr"/>
            <a:r>
              <a:rPr lang="en-IN" sz="2400" dirty="0" smtClean="0"/>
              <a:t>fake </a:t>
            </a:r>
            <a:r>
              <a:rPr lang="en-IN" sz="2400" dirty="0"/>
              <a:t>survey/ quiz/ offers</a:t>
            </a:r>
          </a:p>
          <a:p>
            <a:pPr algn="ctr"/>
            <a:endParaRPr lang="en-IN" sz="2400" dirty="0"/>
          </a:p>
        </p:txBody>
      </p: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2277" y="169398"/>
            <a:ext cx="587447" cy="632395"/>
          </a:xfrm>
          <a:prstGeom prst="rect">
            <a:avLst/>
          </a:prstGeom>
        </p:spPr>
      </p:pic>
      <p:sp>
        <p:nvSpPr>
          <p:cNvPr id="6" name="Oval 5"/>
          <p:cNvSpPr/>
          <p:nvPr/>
        </p:nvSpPr>
        <p:spPr>
          <a:xfrm>
            <a:off x="961053" y="3097629"/>
            <a:ext cx="1746086" cy="12394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dirty="0"/>
              <a:t>Pension Frauds</a:t>
            </a:r>
          </a:p>
        </p:txBody>
      </p:sp>
      <p:sp>
        <p:nvSpPr>
          <p:cNvPr id="7" name="Oval 6"/>
          <p:cNvSpPr/>
          <p:nvPr/>
        </p:nvSpPr>
        <p:spPr>
          <a:xfrm>
            <a:off x="2314119" y="1573704"/>
            <a:ext cx="1530093" cy="13379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KYC frauds</a:t>
            </a:r>
          </a:p>
          <a:p>
            <a:pPr algn="ctr"/>
            <a:endParaRPr lang="en-IN" sz="2400" dirty="0"/>
          </a:p>
        </p:txBody>
      </p:sp>
      <p:sp>
        <p:nvSpPr>
          <p:cNvPr id="8" name="Oval 7"/>
          <p:cNvSpPr/>
          <p:nvPr/>
        </p:nvSpPr>
        <p:spPr>
          <a:xfrm flipH="1">
            <a:off x="7501699" y="1063799"/>
            <a:ext cx="1747352" cy="16968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Lottery Frauds</a:t>
            </a:r>
          </a:p>
          <a:p>
            <a:pPr algn="ctr"/>
            <a:endParaRPr lang="en-IN" sz="2400" dirty="0"/>
          </a:p>
        </p:txBody>
      </p:sp>
      <p:sp>
        <p:nvSpPr>
          <p:cNvPr id="9" name="Oval 8"/>
          <p:cNvSpPr/>
          <p:nvPr/>
        </p:nvSpPr>
        <p:spPr>
          <a:xfrm>
            <a:off x="9317937" y="2545399"/>
            <a:ext cx="1971675" cy="19846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dirty="0"/>
              <a:t>Heavy Discount Scams</a:t>
            </a:r>
          </a:p>
        </p:txBody>
      </p:sp>
      <p:sp>
        <p:nvSpPr>
          <p:cNvPr id="10" name="Oval 9"/>
          <p:cNvSpPr/>
          <p:nvPr/>
        </p:nvSpPr>
        <p:spPr>
          <a:xfrm>
            <a:off x="9249052" y="1018254"/>
            <a:ext cx="1647540" cy="15554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Investment Scams</a:t>
            </a:r>
            <a:endParaRPr lang="en-IN" sz="2400" dirty="0"/>
          </a:p>
        </p:txBody>
      </p:sp>
      <p:sp>
        <p:nvSpPr>
          <p:cNvPr id="16" name="Oval 15"/>
          <p:cNvSpPr/>
          <p:nvPr/>
        </p:nvSpPr>
        <p:spPr>
          <a:xfrm>
            <a:off x="342445" y="1573705"/>
            <a:ext cx="1946036" cy="1592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Passport frauds</a:t>
            </a:r>
            <a:endParaRPr lang="en-IN" sz="2400" dirty="0"/>
          </a:p>
        </p:txBody>
      </p:sp>
    </p:spTree>
    <p:extLst>
      <p:ext uri="{BB962C8B-B14F-4D97-AF65-F5344CB8AC3E}">
        <p14:creationId xmlns:p14="http://schemas.microsoft.com/office/powerpoint/2010/main" val="168572266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62083"/>
            <a:ext cx="8596668" cy="1768317"/>
          </a:xfrm>
        </p:spPr>
        <p:txBody>
          <a:bodyPr/>
          <a:lstStyle/>
          <a:p>
            <a:r>
              <a:rPr lang="en-IN" dirty="0" smtClean="0"/>
              <a:t>    Some Important Information  </a:t>
            </a:r>
            <a:endParaRPr lang="en-IN" dirty="0"/>
          </a:p>
        </p:txBody>
      </p:sp>
      <p:sp>
        <p:nvSpPr>
          <p:cNvPr id="3" name="Content Placeholder 2"/>
          <p:cNvSpPr>
            <a:spLocks noGrp="1"/>
          </p:cNvSpPr>
          <p:nvPr>
            <p:ph idx="1"/>
          </p:nvPr>
        </p:nvSpPr>
        <p:spPr>
          <a:xfrm>
            <a:off x="447868" y="1147665"/>
            <a:ext cx="11290041" cy="5178490"/>
          </a:xfrm>
        </p:spPr>
        <p:txBody>
          <a:bodyPr>
            <a:noAutofit/>
          </a:bodyPr>
          <a:lstStyle/>
          <a:p>
            <a:r>
              <a:rPr lang="en-IN" sz="2400" dirty="0" smtClean="0"/>
              <a:t>IT Security Policy </a:t>
            </a:r>
            <a:r>
              <a:rPr lang="en-IN" sz="2400" dirty="0"/>
              <a:t>of </a:t>
            </a:r>
            <a:r>
              <a:rPr lang="en-IN" sz="2400" dirty="0" smtClean="0"/>
              <a:t>Institute(Under policies tab of cic.iitkgp.ac.in)</a:t>
            </a:r>
          </a:p>
          <a:p>
            <a:r>
              <a:rPr lang="en-IN" sz="2400" dirty="0" smtClean="0"/>
              <a:t>ISEA portal for Cyber Security Awareness(</a:t>
            </a:r>
            <a:r>
              <a:rPr lang="en-IN" sz="2400" u="sng" dirty="0">
                <a:hlinkClick r:id="rId2"/>
              </a:rPr>
              <a:t>https://</a:t>
            </a:r>
            <a:r>
              <a:rPr lang="en-IN" sz="2400" u="sng" dirty="0" smtClean="0">
                <a:hlinkClick r:id="rId2"/>
              </a:rPr>
              <a:t>isea.gov.in</a:t>
            </a:r>
            <a:r>
              <a:rPr lang="en-IN" sz="2400" u="sng" dirty="0" smtClean="0"/>
              <a:t>)</a:t>
            </a:r>
          </a:p>
          <a:p>
            <a:r>
              <a:rPr lang="en-US" sz="2400" b="1" dirty="0"/>
              <a:t>CERT</a:t>
            </a:r>
            <a:r>
              <a:rPr lang="en-US" sz="2400" dirty="0"/>
              <a:t>-</a:t>
            </a:r>
            <a:r>
              <a:rPr lang="en-US" sz="2400" b="1" dirty="0"/>
              <a:t>In</a:t>
            </a:r>
            <a:r>
              <a:rPr lang="en-US" sz="2400" dirty="0"/>
              <a:t> </a:t>
            </a:r>
            <a:r>
              <a:rPr lang="en-US" sz="2400" dirty="0" smtClean="0"/>
              <a:t>-The </a:t>
            </a:r>
            <a:r>
              <a:rPr lang="en-US" sz="2400" dirty="0"/>
              <a:t>national nodal agency for responding to computer security incidents as and when they occur. In the Information Technology Amendment Act 2008,CERT </a:t>
            </a:r>
            <a:r>
              <a:rPr lang="en-US" sz="2400" dirty="0" smtClean="0"/>
              <a:t>...</a:t>
            </a:r>
          </a:p>
          <a:p>
            <a:r>
              <a:rPr lang="en-US" sz="2400" dirty="0" smtClean="0"/>
              <a:t>National Cybercrime </a:t>
            </a:r>
            <a:r>
              <a:rPr lang="en-US" sz="2400" dirty="0"/>
              <a:t>reporting Portal (</a:t>
            </a:r>
            <a:r>
              <a:rPr lang="en-US" sz="2400" dirty="0">
                <a:hlinkClick r:id="rId3"/>
              </a:rPr>
              <a:t>https://cybercrime.gov.in</a:t>
            </a:r>
            <a:r>
              <a:rPr lang="en-US" sz="2400" dirty="0" smtClean="0">
                <a:hlinkClick r:id="rId3"/>
              </a:rPr>
              <a:t>/</a:t>
            </a:r>
            <a:r>
              <a:rPr lang="en-US" sz="2400" dirty="0" smtClean="0"/>
              <a:t>) helpline 1930</a:t>
            </a:r>
          </a:p>
          <a:p>
            <a:r>
              <a:rPr lang="en-US" sz="2400" dirty="0" smtClean="0"/>
              <a:t>Cyber Crisis Management Group(CCMG) of the Institute</a:t>
            </a:r>
          </a:p>
          <a:p>
            <a:r>
              <a:rPr lang="en-US" sz="2400" dirty="0" smtClean="0"/>
              <a:t>Time to Time Cyber Security information sent by CISO to Institute Community</a:t>
            </a:r>
          </a:p>
          <a:p>
            <a:r>
              <a:rPr lang="en-US" sz="2400" dirty="0" smtClean="0"/>
              <a:t>Specific Alert shared by Deputy CISO to the concerned individuals or Groups.</a:t>
            </a:r>
          </a:p>
          <a:p>
            <a:endParaRPr lang="en-IN" sz="2400" dirty="0"/>
          </a:p>
          <a:p>
            <a:endParaRPr lang="en-IN" sz="2400" dirty="0" smtClean="0"/>
          </a:p>
          <a:p>
            <a:endParaRPr lang="en-IN" sz="2400" dirty="0"/>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159390" y="162083"/>
            <a:ext cx="587447" cy="552891"/>
          </a:xfrm>
          <a:prstGeom prst="rect">
            <a:avLst/>
          </a:prstGeom>
        </p:spPr>
      </p:pic>
    </p:spTree>
    <p:extLst>
      <p:ext uri="{BB962C8B-B14F-4D97-AF65-F5344CB8AC3E}">
        <p14:creationId xmlns:p14="http://schemas.microsoft.com/office/powerpoint/2010/main" val="260251952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Thank You</a:t>
            </a:r>
            <a:endParaRPr lang="en-IN" dirty="0"/>
          </a:p>
        </p:txBody>
      </p:sp>
      <p:sp>
        <p:nvSpPr>
          <p:cNvPr id="3" name="Content Placeholder 2"/>
          <p:cNvSpPr>
            <a:spLocks noGrp="1"/>
          </p:cNvSpPr>
          <p:nvPr>
            <p:ph idx="1"/>
          </p:nvPr>
        </p:nvSpPr>
        <p:spPr>
          <a:xfrm>
            <a:off x="302004" y="2206305"/>
            <a:ext cx="11400637" cy="3373662"/>
          </a:xfrm>
        </p:spPr>
        <p:txBody>
          <a:bodyPr>
            <a:normAutofit/>
          </a:bodyPr>
          <a:lstStyle/>
          <a:p>
            <a:pPr marL="0" indent="0" algn="just">
              <a:buNone/>
            </a:pPr>
            <a:r>
              <a:rPr lang="en-US" sz="3600" dirty="0" smtClean="0">
                <a:solidFill>
                  <a:srgbClr val="0070C0"/>
                </a:solidFill>
              </a:rPr>
              <a:t>Cybersecurity</a:t>
            </a:r>
            <a:r>
              <a:rPr lang="en-US" sz="3200" dirty="0" smtClean="0">
                <a:solidFill>
                  <a:srgbClr val="0070C0"/>
                </a:solidFill>
              </a:rPr>
              <a:t> </a:t>
            </a:r>
            <a:r>
              <a:rPr lang="en-US" sz="3200" dirty="0">
                <a:solidFill>
                  <a:srgbClr val="0070C0"/>
                </a:solidFill>
              </a:rPr>
              <a:t>is a collective responsibility, requiring everyone, from individuals to organizations and governments, to take proactive measures to protect digital assets and data. </a:t>
            </a:r>
            <a:endParaRPr lang="en-IN" sz="3200" dirty="0">
              <a:solidFill>
                <a:srgbClr val="0070C0"/>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59390" y="162083"/>
            <a:ext cx="587447" cy="552891"/>
          </a:xfrm>
          <a:prstGeom prst="rect">
            <a:avLst/>
          </a:prstGeom>
        </p:spPr>
      </p:pic>
    </p:spTree>
    <p:extLst>
      <p:ext uri="{BB962C8B-B14F-4D97-AF65-F5344CB8AC3E}">
        <p14:creationId xmlns:p14="http://schemas.microsoft.com/office/powerpoint/2010/main" val="1227087946"/>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F0CAB8E371F604EBA5EFBB03D6BFC0C" ma:contentTypeVersion="3" ma:contentTypeDescription="Create a new document." ma:contentTypeScope="" ma:versionID="5d4037bc0b73f0ad5fc73dc05cea912a">
  <xsd:schema xmlns:xsd="http://www.w3.org/2001/XMLSchema" xmlns:xs="http://www.w3.org/2001/XMLSchema" xmlns:p="http://schemas.microsoft.com/office/2006/metadata/properties" xmlns:ns2="e6a417a4-8236-485e-b834-1ecfedd8cb4e" targetNamespace="http://schemas.microsoft.com/office/2006/metadata/properties" ma:root="true" ma:fieldsID="baaa073a535ee7ad205c211e47594ce1" ns2:_="">
    <xsd:import namespace="e6a417a4-8236-485e-b834-1ecfedd8cb4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a417a4-8236-485e-b834-1ecfedd8cb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918C13A-C520-4909-97DC-85F2832D812F}"/>
</file>

<file path=customXml/itemProps2.xml><?xml version="1.0" encoding="utf-8"?>
<ds:datastoreItem xmlns:ds="http://schemas.openxmlformats.org/officeDocument/2006/customXml" ds:itemID="{2F5E79C0-D547-46A0-9B36-09C6C0DECDD7}"/>
</file>

<file path=customXml/itemProps3.xml><?xml version="1.0" encoding="utf-8"?>
<ds:datastoreItem xmlns:ds="http://schemas.openxmlformats.org/officeDocument/2006/customXml" ds:itemID="{1B080720-E52C-4C6D-81B1-1A67E4E1120B}"/>
</file>

<file path=docProps/app.xml><?xml version="1.0" encoding="utf-8"?>
<Properties xmlns="http://schemas.openxmlformats.org/officeDocument/2006/extended-properties" xmlns:vt="http://schemas.openxmlformats.org/officeDocument/2006/docPropsVTypes">
  <Template>Facet</Template>
  <TotalTime>4911</TotalTime>
  <Words>2154</Words>
  <Application>Microsoft Office PowerPoint</Application>
  <PresentationFormat>Widescreen</PresentationFormat>
  <Paragraphs>308</Paragraphs>
  <Slides>41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Trebuchet MS</vt:lpstr>
      <vt:lpstr>Wingdings 3</vt:lpstr>
      <vt:lpstr>Facet</vt:lpstr>
      <vt:lpstr>Cybersecurity Awareness Workshop  Indian Institute of Technology Kharagpur</vt:lpstr>
      <vt:lpstr>PowerPoint Presentation</vt:lpstr>
      <vt:lpstr>PowerPoint Presentation</vt:lpstr>
      <vt:lpstr>Uses and Importance of password for Government Employees </vt:lpstr>
      <vt:lpstr>       Password Threats</vt:lpstr>
      <vt:lpstr>Uses and Importance of password for Government Employees                                         </vt:lpstr>
      <vt:lpstr>Password Threats</vt:lpstr>
      <vt:lpstr>Password Security—Best Practices</vt:lpstr>
      <vt:lpstr>PowerPoint Presentation</vt:lpstr>
      <vt:lpstr>Malware Protection</vt:lpstr>
      <vt:lpstr>Impact of Malware</vt:lpstr>
      <vt:lpstr>Impact of Malware</vt:lpstr>
      <vt:lpstr>Warning Signs</vt:lpstr>
      <vt:lpstr>       Warning Signs</vt:lpstr>
      <vt:lpstr>Precautions to be taken </vt:lpstr>
      <vt:lpstr>PowerPoint Presentation</vt:lpstr>
      <vt:lpstr>      Phishing</vt:lpstr>
      <vt:lpstr>Dangers of Phishing</vt:lpstr>
      <vt:lpstr> Precautions for Phishing</vt:lpstr>
      <vt:lpstr>Best Practices</vt:lpstr>
      <vt:lpstr>PowerPoint Presentation</vt:lpstr>
      <vt:lpstr>PowerPoint Presentation</vt:lpstr>
      <vt:lpstr>Social Engineering</vt:lpstr>
      <vt:lpstr>Social Engineering Techniques (continued)</vt:lpstr>
      <vt:lpstr>Social Engineering  Techniques</vt:lpstr>
      <vt:lpstr>Common Social Engineering frauds</vt:lpstr>
      <vt:lpstr>Common Social Engineering frauds</vt:lpstr>
      <vt:lpstr>Threats of Social Engineering</vt:lpstr>
      <vt:lpstr>Threats of Social Engineering</vt:lpstr>
      <vt:lpstr>Dangers of Social Engineering</vt:lpstr>
      <vt:lpstr>       Dangers of Social Engineering</vt:lpstr>
      <vt:lpstr>Best practices against social engineering </vt:lpstr>
      <vt:lpstr>PowerPoint Presentation</vt:lpstr>
      <vt:lpstr>Digital Arrest </vt:lpstr>
      <vt:lpstr>Dangers-Digital Arrest</vt:lpstr>
      <vt:lpstr>Dangers-Digital Arrest</vt:lpstr>
      <vt:lpstr>Safety and Security Measures</vt:lpstr>
      <vt:lpstr>       Safety and Security Measures</vt:lpstr>
      <vt:lpstr>Some of the Common Scams</vt:lpstr>
      <vt:lpstr>    Some Important Information  </vt:lpstr>
      <vt:lpstr>                        Thank You</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Sudipta Chowdhury</dc:creator>
  <cp:lastModifiedBy>Sudipta Chowdhury</cp:lastModifiedBy>
  <cp:revision>105</cp:revision>
  <dcterms:created xsi:type="dcterms:W3CDTF">2025-03-21T10:53:36Z</dcterms:created>
  <dcterms:modified xsi:type="dcterms:W3CDTF">2025-08-05T04:45:39Z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0x0101003F0CAB8E371F604EBA5EFBB03D6BFC0C</vt:lpwstr>
  </property>
</Properties>
</file>